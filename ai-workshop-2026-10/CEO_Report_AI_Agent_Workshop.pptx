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교육 결과 보고" id="{efaaddd5-3c8a-6b42-2b81-f0393311b4e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별첨: 본부별 AI 적용 지도" id="{90a9c5c8-5bea-f909-ef71-2925fa4f525c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02E"/>
                </a:solidFill>
                <a:latin typeface="+mn-lt"/>
              </a:rPr>
              <a:t>2025년 연결 매출 구성(억 원 기준)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매출 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D6E6"/>
              </a:solidFill>
              <a:effectLst/>
            </c:spPr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4202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4202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상품</c:v>
                </c:pt>
                <c:pt idx="1">
                  <c:v>제품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3004</c:v>
                </c:pt>
                <c:pt idx="1">
                  <c:v>2559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제일약품 임상의학본부 · 2026년 10월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 보고 · 2026년 10월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경영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결과 보고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IGM ‘에이전트 경영: Claude 실습 워크숍’ · 10월 2일, 10월 8일(총 약 11시간)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참석: 조민희 이사(임상의학본부장), 김현수 본부장(제일파마홀딩스 경영지원본부)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2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보고: 임상의학본부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결론부터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요지 세 가지</a:t>
            </a:r>
            <a:endParaRPr lang="en-US" sz="3000" dirty="0"/>
          </a:p>
        </p:txBody>
      </p:sp>
      <p:sp>
        <p:nvSpPr>
          <p:cNvPr id="4" name="bluf0"/>
          <p:cNvSpPr/>
          <p:nvPr/>
        </p:nvSpPr>
        <p:spPr>
          <a:xfrm>
            <a:off x="548640" y="173736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활용의 단위가 바뀌었습니다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‘대화’에서 ‘에이전트 팀 운영’으로 바뀌었습니다. 실습에서 개발 경험이 없는 임원들이 분석 보고서, 대시보드, 웹 문서를 10~15분에 만들었습니다.</a:t>
            </a:r>
            <a:endParaRPr lang="en-US" sz="1400" dirty="0"/>
          </a:p>
        </p:txBody>
      </p:sp>
      <p:sp>
        <p:nvSpPr>
          <p:cNvPr id="8" name="bluf1"/>
          <p:cNvSpPr/>
          <p:nvPr/>
        </p:nvSpPr>
        <p:spPr>
          <a:xfrm>
            <a:off x="4297680" y="173736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성과는 모델이 아니라 조직이 가릅니다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794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고유의 노하우를 ‘스킬’로 쌓고, 사람과 에이전트가 함께 일하는 조직을 설계하는 것이 핵심이라는 것이 교육의 일관된 메시지였습니다.</a:t>
            </a:r>
            <a:endParaRPr lang="en-US" sz="1400" dirty="0"/>
          </a:p>
        </p:txBody>
      </p:sp>
      <p:sp>
        <p:nvSpPr>
          <p:cNvPr id="12" name="bluf2"/>
          <p:cNvSpPr/>
          <p:nvPr/>
        </p:nvSpPr>
        <p:spPr>
          <a:xfrm>
            <a:off x="8046720" y="173736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파일럿을 건의드립니다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794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본부별 스킬 1개, 사내 스킬 라이브러리, AI 사용·보안 가이드를 동시에 시작하는 안입니다. 본부별 후보는 별첨에 정리했습니다.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 직접 확인한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업무가 10~40분 단위로 줄었습니다</a:t>
            </a:r>
            <a:endParaRPr lang="en-US" sz="3000" dirty="0"/>
          </a:p>
        </p:txBody>
      </p:sp>
      <p:sp>
        <p:nvSpPr>
          <p:cNvPr id="4" name="stat0"/>
          <p:cNvSpPr/>
          <p:nvPr/>
        </p:nvSpPr>
        <p:spPr>
          <a:xfrm>
            <a:off x="548640" y="173736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buNone/>
            </a:pPr>
            <a:r>
              <a:rPr lang="en-US" sz="2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→ 경영 보고 슬라이드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분석, 시사점 5개, 차트까지 자동 생성. 강사는 통상 1주 걸리는 작업이라고 평가</a:t>
            </a:r>
            <a:endParaRPr lang="en-US" sz="1300" dirty="0"/>
          </a:p>
        </p:txBody>
      </p:sp>
      <p:sp>
        <p:nvSpPr>
          <p:cNvPr id="8" name="stat1"/>
          <p:cNvSpPr/>
          <p:nvPr/>
        </p:nvSpPr>
        <p:spPr>
          <a:xfrm>
            <a:off x="3346704" y="173736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pPr indent="0" marL="0">
              <a:buNone/>
            </a:pPr>
            <a:r>
              <a:rPr lang="en-US" sz="2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공고 수집·정리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연동으로 사이트 3곳을 수집해 구글 시트에 정리하고 피벗 요약</a:t>
            </a:r>
            <a:endParaRPr lang="en-US" sz="1300" dirty="0"/>
          </a:p>
        </p:txBody>
      </p:sp>
      <p:sp>
        <p:nvSpPr>
          <p:cNvPr id="12" name="stat2"/>
          <p:cNvSpPr/>
          <p:nvPr/>
        </p:nvSpPr>
        <p:spPr>
          <a:xfrm>
            <a:off x="6144768" y="173736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pPr indent="0" marL="0">
              <a:buNone/>
            </a:pPr>
            <a:r>
              <a:rPr lang="en-US" sz="2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에이전트 웹 문서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고정하자 에이전트 여러 개가 역할을 나눠 조사·디자인·음성 낭독까지 완성</a:t>
            </a:r>
            <a:endParaRPr lang="en-US" sz="1300" dirty="0"/>
          </a:p>
        </p:txBody>
      </p:sp>
      <p:sp>
        <p:nvSpPr>
          <p:cNvPr id="16" name="stat3"/>
          <p:cNvSpPr/>
          <p:nvPr/>
        </p:nvSpPr>
        <p:spPr>
          <a:xfrm>
            <a:off x="8942832" y="1737360"/>
            <a:ext cx="2615184" cy="3840480"/>
          </a:xfrm>
          <a:prstGeom prst="roundRect">
            <a:avLst>
              <a:gd name="adj" fmla="val 41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7152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pPr indent="0" marL="0">
              <a:buNone/>
            </a:pPr>
            <a:r>
              <a:rPr lang="en-US" sz="2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21715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132건 논조 분석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사례. 기사를 수집해 논조를 점수화하고 쟁점 5개로 분류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시간은 강의 현장의 시연 값이며 산출물의 정확성은 별도로 검증해야 합니다. 교육에서도 생성과 검증의 분리를 핵심 원칙으로 강조했습니다.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역량의 5단계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회사에 자산으로 남는 단계는 ‘스킬’입니다</a:t>
            </a:r>
            <a:endParaRPr lang="en-US" sz="3000" dirty="0"/>
          </a:p>
        </p:txBody>
      </p:sp>
      <p:sp>
        <p:nvSpPr>
          <p:cNvPr id="4" name="step0"/>
          <p:cNvSpPr/>
          <p:nvPr/>
        </p:nvSpPr>
        <p:spPr>
          <a:xfrm>
            <a:off x="548640" y="1828800"/>
            <a:ext cx="2103120" cy="384048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페르소나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 1명과 평가자 4명이 역할을 나누고, 10점 만점에 9.5점 이상이 될 때까지 반복</a:t>
            </a:r>
            <a:endParaRPr lang="en-US" sz="1300" dirty="0"/>
          </a:p>
        </p:txBody>
      </p:sp>
      <p:sp>
        <p:nvSpPr>
          <p:cNvPr id="10" name="step1"/>
          <p:cNvSpPr/>
          <p:nvPr/>
        </p:nvSpPr>
        <p:spPr>
          <a:xfrm>
            <a:off x="2798064" y="1828800"/>
            <a:ext cx="2103120" cy="384048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2103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7238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72384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MCP·도구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072384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DART, 카카오톡, 브라우저 같은 외부 시스템을 표준 규약으로 연결</a:t>
            </a:r>
            <a:endParaRPr lang="en-US" sz="1300" dirty="0"/>
          </a:p>
        </p:txBody>
      </p:sp>
      <p:sp>
        <p:nvSpPr>
          <p:cNvPr id="16" name="step2"/>
          <p:cNvSpPr/>
          <p:nvPr/>
        </p:nvSpPr>
        <p:spPr>
          <a:xfrm>
            <a:off x="5047488" y="1828800"/>
            <a:ext cx="2103120" cy="3840480"/>
          </a:xfrm>
          <a:prstGeom prst="roundRect">
            <a:avLst>
              <a:gd name="adj" fmla="val 521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2103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7F1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업무의 노하우를 문서로 규격화해 회사의 자산으로 축적</a:t>
            </a:r>
            <a:endParaRPr lang="en-US" sz="1300" dirty="0"/>
          </a:p>
        </p:txBody>
      </p:sp>
      <p:sp>
        <p:nvSpPr>
          <p:cNvPr id="22" name="step3"/>
          <p:cNvSpPr/>
          <p:nvPr/>
        </p:nvSpPr>
        <p:spPr>
          <a:xfrm>
            <a:off x="7296912" y="1828800"/>
            <a:ext cx="2103120" cy="384048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1232" y="2103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에이전트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스킬과 에이전트를 팀처럼 엮어 복잡한 과제를 나눠 처리</a:t>
            </a:r>
            <a:endParaRPr lang="en-US" sz="1300" dirty="0"/>
          </a:p>
        </p:txBody>
      </p:sp>
      <p:sp>
        <p:nvSpPr>
          <p:cNvPr id="28" name="step4"/>
          <p:cNvSpPr/>
          <p:nvPr/>
        </p:nvSpPr>
        <p:spPr>
          <a:xfrm>
            <a:off x="9546336" y="1828800"/>
            <a:ext cx="2103120" cy="384048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0656" y="2103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06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20656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 루프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20656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/goal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820656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고정하면 달성할 때까지 스스로 반복 실행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1일차에 1~3단계, 2일차에 2~5단계를 실습했습니다.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품질은 이렇게 만듭니다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생성과 검증을 분리하고 점수로 반복시킵니다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01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작성·팀장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26243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24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비판(먼저 평가)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3447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Silver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47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업계 전문가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42702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옹호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5093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5093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독자·의사결정자</a:t>
            </a:r>
            <a:endParaRPr lang="en-US" sz="1500" dirty="0"/>
          </a:p>
        </p:txBody>
      </p:sp>
      <p:sp>
        <p:nvSpPr>
          <p:cNvPr id="19" name="qtext"/>
          <p:cNvSpPr/>
          <p:nvPr/>
        </p:nvSpPr>
        <p:spPr>
          <a:xfrm>
            <a:off x="5486400" y="1737360"/>
            <a:ext cx="6126480" cy="2377440"/>
          </a:xfrm>
          <a:prstGeom prst="roundRect">
            <a:avLst>
              <a:gd name="adj" fmla="val 461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96596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사람에게는 “9.5점이 될 때까지 둘이 계속 다듬어 오라”고 시킬 수 없지만 AI에게는 시킬 수 있습니다. 비판 역할(Red)을 먼저 평가시키면 동조 편향이 줄어듭니다.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같은 모델 안의 역할극은 지식의 한계와 편향을 공유하므로, 사실관계는 원본 대조와 다른 모델의 교차 검토로 보완해야 합니다.</a:t>
            </a:r>
            <a:endParaRPr lang="en-US" sz="1400" dirty="0"/>
          </a:p>
        </p:txBody>
      </p:sp>
      <p:sp>
        <p:nvSpPr>
          <p:cNvPr id="21" name="quote"/>
          <p:cNvSpPr/>
          <p:nvPr/>
        </p:nvSpPr>
        <p:spPr>
          <a:xfrm>
            <a:off x="5486400" y="4343400"/>
            <a:ext cx="6126480" cy="146304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49884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“AI가 95%를 만들고,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5%의 품질은 사람이 결정합니다.”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413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강사(강정우, AI 에이전트 스타트업 AI 전략총괄) 발언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관점 시사점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경영진의 고민 시간 70%는 사람·에이전트 조직 설계에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" cy="685800"/>
          </a:xfrm>
          <a:prstGeom prst="rect">
            <a:avLst/>
          </a:prstGeom>
          <a:solidFill>
            <a:srgbClr val="7D8A9C"/>
          </a:solidFill>
          <a:ln w="12700">
            <a:solidFill>
              <a:srgbClr val="7D8A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55064" y="1691640"/>
            <a:ext cx="2212848" cy="685800"/>
          </a:xfrm>
          <a:prstGeom prst="rect">
            <a:avLst/>
          </a:prstGeom>
          <a:solidFill>
            <a:srgbClr val="2F7F9A"/>
          </a:solidFill>
          <a:ln w="12700">
            <a:solidFill>
              <a:srgbClr val="2F7F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92224" y="16916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67912" y="1691640"/>
            <a:ext cx="7744968" cy="6858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05072" y="1691640"/>
            <a:ext cx="7562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800" dirty="0"/>
          </a:p>
        </p:txBody>
      </p:sp>
      <p:sp>
        <p:nvSpPr>
          <p:cNvPr id="10" name="mg0"/>
          <p:cNvSpPr/>
          <p:nvPr/>
        </p:nvSpPr>
        <p:spPr>
          <a:xfrm>
            <a:off x="548640" y="26974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83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계속 바뀝니다. 이미 정한 도구를 유지하고 교체 논의에 시간을 쓰지 않는 것이 합리적입니다.</a:t>
            </a:r>
            <a:endParaRPr lang="en-US" sz="1350" dirty="0"/>
          </a:p>
        </p:txBody>
      </p:sp>
      <p:sp>
        <p:nvSpPr>
          <p:cNvPr id="13" name="mg1"/>
          <p:cNvSpPr/>
          <p:nvPr/>
        </p:nvSpPr>
        <p:spPr>
          <a:xfrm>
            <a:off x="4297680" y="26974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컴퍼니 브레인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83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스킬 라이브러리(직원의 암묵지)와 시스템 연결(MCP)을 합쳐 AI가 읽을 수 있는 회사 지식 기반을 만듭니다.</a:t>
            </a:r>
            <a:endParaRPr lang="en-US" sz="1350" dirty="0"/>
          </a:p>
        </p:txBody>
      </p:sp>
      <p:sp>
        <p:nvSpPr>
          <p:cNvPr id="16" name="mg2"/>
          <p:cNvSpPr/>
          <p:nvPr/>
        </p:nvSpPr>
        <p:spPr>
          <a:xfrm>
            <a:off x="8046720" y="26974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리소스 관리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383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일을 사람이, 어떤 일을 에이전트가 할지 정하고, 에이전트 리더를 육성하며, 성과를 모니터링합니다. 인사 기능의 확장이 필요합니다.</a:t>
            </a:r>
            <a:endParaRPr lang="en-US" sz="1350" dirty="0"/>
          </a:p>
        </p:txBody>
      </p:sp>
      <p:sp>
        <p:nvSpPr>
          <p:cNvPr id="19" name="leader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리더 선발 기준  </a:t>
            </a:r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전문성과 결과 책임감을 기준으로 선발하고, AI 활용 역량은 교육으로 보완합니다. 권한을 가진 에이전트는 사고도 낼 수 있기 때문입니다.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리스크와 통제 방안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도입과 함께 통제 장치를 설계해야 합니다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교육에서 제시된 사례·근거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통제 방안(안)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학습·유출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계정의 기본 설정은 대화를 모델 개선에 활용. 대화 기록이 소송에서 제출된 사례 소개(미검증)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기업 계정 사용, 학습 허용 해제, 회사·개인 계정 분리, 데이터 등급별 입력 기준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접근 키·권한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 저장소에 접근 키를 평문 저장해 대규모 유출로 이어진 사례 소개(미검증)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 비밀 관리, 에이전트별 최소 권한, 폴더·시스템 단위 접근 통제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잘못된 판단 강화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사용자 의도에 동조해 무리한 계획을 짜준 소송 사례 소개(미검증)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비판 역할을 둔 다단 검증, 최종 의사결정은 사람이 내리고 기록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 규제 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GMP·약물감시·판촉 규정은 교육 범위 밖인 당사 고유의 고려 사항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GxP 데이터 무결성, 컴퓨터화 시스템 밸리데이션, 공정경쟁규약 검토 후 범위 확대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기업 계정은 종량제라 사용량이 급증한 사례 언급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부서·개인별 사용 한도와 월간 사용량 리포트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제언: 90일 파일럿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측정하고 넓힙니다</a:t>
            </a:r>
            <a:endParaRPr lang="en-US" sz="3000" dirty="0"/>
          </a:p>
        </p:txBody>
      </p:sp>
      <p:sp>
        <p:nvSpPr>
          <p:cNvPr id="4" name="ph0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0~30일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마련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사용·보안 가이드 제정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본부별 에이전트 리더 1명 지정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 대상 확대 교육 검토</a:t>
            </a:r>
            <a:endParaRPr lang="en-US" sz="1350" dirty="0"/>
          </a:p>
        </p:txBody>
      </p:sp>
      <p:sp>
        <p:nvSpPr>
          <p:cNvPr id="8" name="ph1"/>
          <p:cNvSpPr/>
          <p:nvPr/>
        </p:nvSpPr>
        <p:spPr>
          <a:xfrm>
            <a:off x="429768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31~60일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본부별 스킬 1개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 1개를 스킬로 제작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경쟁 임상 주간 브리핑, 채용시장 모니터링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5컬러 검증 기준 적용</a:t>
            </a:r>
            <a:endParaRPr lang="en-US" sz="1350" dirty="0"/>
          </a:p>
        </p:txBody>
      </p:sp>
      <p:sp>
        <p:nvSpPr>
          <p:cNvPr id="12" name="ph2"/>
          <p:cNvSpPr/>
          <p:nvPr/>
        </p:nvSpPr>
        <p:spPr>
          <a:xfrm>
            <a:off x="804672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61~90일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라이브러리와 평가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스킬 라이브러리 개설(외부 비공개)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시간·품질·오류 측정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과제와 조직·인사 개선안 보고</a:t>
            </a:r>
            <a:endParaRPr lang="en-US" sz="1350" dirty="0"/>
          </a:p>
        </p:txBody>
      </p:sp>
      <p:sp>
        <p:nvSpPr>
          <p:cNvPr id="16" name="ask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요청 사항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파일럿 추진과 본부별 에이전트 리더 지정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AI 사용·보안 가이드 제정 주관 부서 지정(경영지원·IT 협업안)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 대상 확대 교육 시행 여부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· 회사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상품에서 자체 제품으로 체질이 바뀌는 중입니다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v0"/>
          <p:cNvSpPr/>
          <p:nvPr/>
        </p:nvSpPr>
        <p:spPr>
          <a:xfrm>
            <a:off x="4389120" y="16916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5,672억 원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연결 매출(전년 대비 −19.5%)</a:t>
            </a:r>
            <a:endParaRPr lang="en-US" sz="1150" dirty="0"/>
          </a:p>
        </p:txBody>
      </p:sp>
      <p:sp>
        <p:nvSpPr>
          <p:cNvPr id="8" name="kv1"/>
          <p:cNvSpPr/>
          <p:nvPr/>
        </p:nvSpPr>
        <p:spPr>
          <a:xfrm>
            <a:off x="6720840" y="16916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671억 원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자큐보 매출(2024년 83억 원)</a:t>
            </a:r>
            <a:endParaRPr lang="en-US" sz="1150" dirty="0"/>
          </a:p>
        </p:txBody>
      </p:sp>
      <p:sp>
        <p:nvSpPr>
          <p:cNvPr id="11" name="kv2"/>
          <p:cNvSpPr/>
          <p:nvPr/>
        </p:nvSpPr>
        <p:spPr>
          <a:xfrm>
            <a:off x="4389120" y="32918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354억 원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연구개발비(별도)</a:t>
            </a:r>
            <a:endParaRPr lang="en-US" sz="1150" dirty="0"/>
          </a:p>
        </p:txBody>
      </p:sp>
      <p:sp>
        <p:nvSpPr>
          <p:cNvPr id="14" name="kv3"/>
          <p:cNvSpPr/>
          <p:nvPr/>
        </p:nvSpPr>
        <p:spPr>
          <a:xfrm>
            <a:off x="6720840" y="32918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1,011명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수(2025.12.31)</a:t>
            </a:r>
            <a:endParaRPr lang="en-US" sz="1150" dirty="0"/>
          </a:p>
        </p:txBody>
      </p:sp>
      <p:sp>
        <p:nvSpPr>
          <p:cNvPr id="17" name="group"/>
          <p:cNvSpPr/>
          <p:nvPr/>
        </p:nvSpPr>
        <p:spPr>
          <a:xfrm>
            <a:off x="9189720" y="1691640"/>
            <a:ext cx="2423160" cy="3017520"/>
          </a:xfrm>
          <a:prstGeom prst="roundRect">
            <a:avLst>
              <a:gd name="adj" fmla="val 4528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1874520"/>
            <a:ext cx="2057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구성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제일파마홀딩스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지주, 경영지원본부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제일약품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전문의약품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온코닉테라퓨틱스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신약(자큐보)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제일헬스사이언스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일반의약품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제일앤파트너스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유통</a:t>
            </a:r>
            <a:endParaRPr lang="en-US" sz="1200" dirty="0"/>
          </a:p>
        </p:txBody>
      </p:sp>
      <p:sp>
        <p:nvSpPr>
          <p:cNvPr id="19" name="imp"/>
          <p:cNvSpPr/>
          <p:nvPr/>
        </p:nvSpPr>
        <p:spPr>
          <a:xfrm>
            <a:off x="4389120" y="4983480"/>
            <a:ext cx="7223760" cy="1188720"/>
          </a:xfrm>
          <a:prstGeom prst="roundRect">
            <a:avLst>
              <a:gd name="adj" fmla="val 9231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17720" y="5074920"/>
            <a:ext cx="681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우선순위 시사점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매출이 38% 줄고 자체 제품이 성장하는 구조 전환기입니다. 연구개발 생산성, 자체 제품의 근거 생성과 마케팅, 생산·품질 효율이 AI 투자의 1순위 후보입니다.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120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공시를 인용한 보도·기업정보 사이트(메가경제, Daum 뉴스, FnGuide 인용, 잡코리아). DART 원문으로 최종 확인 필요.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· 본부별 AI 적용 지도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연구개발·임상·사업개발·영업</a:t>
            </a:r>
            <a:endParaRPr lang="en-US" sz="3000" dirty="0"/>
          </a:p>
        </p:txBody>
      </p:sp>
      <p:sp>
        <p:nvSpPr>
          <p:cNvPr id="4" name="div0"/>
          <p:cNvSpPr/>
          <p:nvPr/>
        </p:nvSpPr>
        <p:spPr>
          <a:xfrm>
            <a:off x="548640" y="1554480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임상의학본부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2026.3 보직 보도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임상시험 운영, 약물감시(PV), 근거 생성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4140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140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377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운영 대시보드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마일스톤·등록률·예산, 지연 경보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82549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8254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임상 주간 브리핑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등록·문헌 정기 수집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369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5AF5"/>
          </a:solidFill>
          <a:ln w="12700">
            <a:solidFill>
              <a:srgbClr val="7A5A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200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프로토콜·보고서 다중 검토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통계·규제·의학 관점 검토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식별정보 입력 금지, 이상사례 판단은 사람</a:t>
            </a:r>
            <a:endParaRPr lang="en-US" sz="1100" dirty="0"/>
          </a:p>
        </p:txBody>
      </p:sp>
      <p:sp>
        <p:nvSpPr>
          <p:cNvPr id="18" name="div1"/>
          <p:cNvSpPr/>
          <p:nvPr/>
        </p:nvSpPr>
        <p:spPr>
          <a:xfrm>
            <a:off x="6126480" y="1554480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중앙연구소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2026.6 부소장 영입 보도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신약·제제 연구개발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4140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0782F"/>
          </a:solidFill>
          <a:ln w="12700">
            <a:solidFill>
              <a:srgbClr val="D078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4140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77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문헌·특허 지형 분석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타깃별 동시 조사 후 출처를 붙여 종합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282549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28254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데이터 탐색 분석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요약·차트·보고서 초안 자동 생성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369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7FD0"/>
          </a:solidFill>
          <a:ln w="12700">
            <a:solidFill>
              <a:srgbClr val="2F7F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200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파이프라인 추적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등록·학회·공시 변화 알림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미공개 구조·데이터는 승인된 기업 환경에서만</a:t>
            </a:r>
            <a:endParaRPr lang="en-US" sz="1100" dirty="0"/>
          </a:p>
        </p:txBody>
      </p:sp>
      <p:sp>
        <p:nvSpPr>
          <p:cNvPr id="32" name="div2"/>
          <p:cNvSpPr/>
          <p:nvPr/>
        </p:nvSpPr>
        <p:spPr>
          <a:xfrm>
            <a:off x="548640" y="4005072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글로벌사업본부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신설 · 2026.10 K-VIP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사업, 라이선스 인·아웃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486460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0782F"/>
          </a:solidFill>
          <a:ln w="12700">
            <a:solidFill>
              <a:srgbClr val="D0782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64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48280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후보 스크리닝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파이프라인·공시·딜 데이터 점수화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77240" y="527608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276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5239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규제·시장 브리프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허가 경로·시장 규모 비교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77240" y="56875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5AF5"/>
          </a:solidFill>
          <a:ln w="12700">
            <a:solidFill>
              <a:srgbClr val="7A5A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687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463040" y="5650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 미팅 자료 검증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상대사 시각의 예상 질문 도출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6016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대상 자료는 외부 AI 입력 금지</a:t>
            </a:r>
            <a:endParaRPr lang="en-US" sz="1100" dirty="0"/>
          </a:p>
        </p:txBody>
      </p:sp>
      <p:sp>
        <p:nvSpPr>
          <p:cNvPr id="46" name="div3"/>
          <p:cNvSpPr/>
          <p:nvPr/>
        </p:nvSpPr>
        <p:spPr>
          <a:xfrm>
            <a:off x="6126480" y="4005072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5508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영업·마케팅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부문·본부 인사 보도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5508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종합·개인병원 영업, 제품 마케팅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55080" y="486460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55080" y="4864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040880" y="48280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KPI 대시보드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처방·매출 데이터와 이상 신호 주석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55080" y="527608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55080" y="5276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040880" y="5239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경쟁·학회 동향 클리핑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수집·요약해 담당 PM에게 발송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355080" y="56875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5AF5"/>
          </a:solidFill>
          <a:ln w="12700">
            <a:solidFill>
              <a:srgbClr val="7A5A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55080" y="5687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040880" y="5650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판촉 자료 사전 점검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허가사항·공정경쟁규약 점검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6355080" y="6016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승인은 기존 심의 절차, 의료인 개인정보 금지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5852160" y="6446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태그: 소환 · 연결 · 스킬 · 멀티(멀티 에이전트) · 루프(/goal)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· 본부별 AI 적용 지도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생산·품질·경영지원·재무</a:t>
            </a:r>
            <a:endParaRPr lang="en-US" sz="3000" dirty="0"/>
          </a:p>
        </p:txBody>
      </p:sp>
      <p:sp>
        <p:nvSpPr>
          <p:cNvPr id="4" name="div0"/>
          <p:cNvSpPr/>
          <p:nvPr/>
        </p:nvSpPr>
        <p:spPr>
          <a:xfrm>
            <a:off x="548640" y="1554480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생산본부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2026.4 인사 보도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제조, 생산계획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4140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140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377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배치·설비 데이터 분석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수율·가동률 이상 패턴과 원인 후보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82549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7FD0"/>
          </a:solidFill>
          <a:ln w="12700">
            <a:solidFill>
              <a:srgbClr val="2F7F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8254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검색 도우미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승인본 문서만 근거로 답변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369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0782F"/>
          </a:solidFill>
          <a:ln w="12700">
            <a:solidFill>
              <a:srgbClr val="D078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200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생산계획 시나리오 비교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수요·재고·설비 제약 반영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시스템 연결 전 CSV·데이터 무결성 확보</a:t>
            </a:r>
            <a:endParaRPr lang="en-US" sz="1100" dirty="0"/>
          </a:p>
        </p:txBody>
      </p:sp>
      <p:sp>
        <p:nvSpPr>
          <p:cNvPr id="18" name="div1"/>
          <p:cNvSpPr/>
          <p:nvPr/>
        </p:nvSpPr>
        <p:spPr>
          <a:xfrm>
            <a:off x="6126480" y="1554480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품질경영본부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2026.4 인사 보도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품질보증·관리, 규제 대응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4140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4140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77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일탈·CAPA·불만 추세 분석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추세와 재발 패턴 요약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282549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5AF5"/>
          </a:solidFill>
          <a:ln w="12700">
            <a:solidFill>
              <a:srgbClr val="7A5A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28254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대비 문서 정합성 점검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간 불일치를 먼저 찾아 표시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369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200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개정 모니터링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식약처·FDA·EMA 개정 주간 분류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판정·출하 승인은 사람, 추적성 기록</a:t>
            </a:r>
            <a:endParaRPr lang="en-US" sz="1100" dirty="0"/>
          </a:p>
        </p:txBody>
      </p:sp>
      <p:sp>
        <p:nvSpPr>
          <p:cNvPr id="32" name="div2"/>
          <p:cNvSpPr/>
          <p:nvPr/>
        </p:nvSpPr>
        <p:spPr>
          <a:xfrm>
            <a:off x="548640" y="4005072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경영지원본부(지주)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2026.4 신설 보도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인사·총무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486460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7FD0"/>
          </a:solidFill>
          <a:ln w="12700">
            <a:solidFill>
              <a:srgbClr val="2F7F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64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48280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시장 모니터링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3곳 12분 수집(실습)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77240" y="527608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0782F"/>
          </a:solidFill>
          <a:ln w="12700">
            <a:solidFill>
              <a:srgbClr val="D078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276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5239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인력 설계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AI·협업·사람 전담 업무 분류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77240" y="56875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687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463040" y="5650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스킬 라이브러리 운영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등록·심사·이용 이력 관리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6016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 개인정보·평가 정보는 입력 금지 또는 가명</a:t>
            </a:r>
            <a:endParaRPr lang="en-US" sz="1100" dirty="0"/>
          </a:p>
        </p:txBody>
      </p:sp>
      <p:sp>
        <p:nvSpPr>
          <p:cNvPr id="46" name="div3"/>
          <p:cNvSpPr/>
          <p:nvPr/>
        </p:nvSpPr>
        <p:spPr>
          <a:xfrm>
            <a:off x="6126480" y="4005072"/>
            <a:ext cx="5440680" cy="2313432"/>
          </a:xfrm>
          <a:prstGeom prst="roundRect">
            <a:avLst>
              <a:gd name="adj" fmla="val 47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5508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재무·기획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기준(조직명 미확인)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5508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관리, 경영 보고, IR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55080" y="486460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7FD0"/>
          </a:solidFill>
          <a:ln w="12700">
            <a:solidFill>
              <a:srgbClr val="2F7FD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55080" y="4864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040880" y="48280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공시 비교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DART MCP로 분기 실적 자연어 조회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55080" y="527608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55080" y="5276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040880" y="5239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환율·원가 조기 경보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벗어나면 알림 발송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355080" y="56875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5AF5"/>
          </a:solidFill>
          <a:ln w="12700">
            <a:solidFill>
              <a:srgbClr val="7A5A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55080" y="5687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040880" y="5650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보고 질의 생성  </a:t>
            </a:r>
            <a:pPr indent="0" marL="0">
              <a:buNone/>
            </a:pPr>
            <a:r>
              <a:rPr lang="en-US" sz="11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자료로 경영진 예상 질문 생성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6355080" y="6016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 전 실적은 외부 AI 입력 금지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5852160" y="6446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태그: 소환 · 연결 · 스킬 · 멀티(멀티 에이전트) · 루프(/goal)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· 실행 순서와 통제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데이터로 시작해 사내 데이터로 넓힙니다</a:t>
            </a:r>
            <a:endParaRPr lang="en-US" sz="3000" dirty="0"/>
          </a:p>
        </p:txBody>
      </p:sp>
      <p:sp>
        <p:nvSpPr>
          <p:cNvPr id="4" name="mx0"/>
          <p:cNvSpPr/>
          <p:nvPr/>
        </p:nvSpPr>
        <p:spPr>
          <a:xfrm>
            <a:off x="548640" y="1691640"/>
            <a:ext cx="2148840" cy="4480560"/>
          </a:xfrm>
          <a:prstGeom prst="roundRect">
            <a:avLst>
              <a:gd name="adj" fmla="val 5106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0~3개월 · 공개 데이터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Quick win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임상 주간 브리핑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제품·학회 동향 클리핑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시장 모니터링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공시 비교</a:t>
            </a:r>
            <a:endParaRPr lang="en-US" sz="1300" dirty="0"/>
          </a:p>
        </p:txBody>
      </p:sp>
      <p:sp>
        <p:nvSpPr>
          <p:cNvPr id="8" name="mx1"/>
          <p:cNvSpPr/>
          <p:nvPr/>
        </p:nvSpPr>
        <p:spPr>
          <a:xfrm>
            <a:off x="2834640" y="1691640"/>
            <a:ext cx="2148840" cy="4480560"/>
          </a:xfrm>
          <a:prstGeom prst="roundRect">
            <a:avLst>
              <a:gd name="adj" fmla="val 51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3~12개월 · 사내 데이터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과제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03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운영 대시보드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일탈·CAPA 추세 분석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배치·설비 데이터 분석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후보 스크리닝</a:t>
            </a:r>
            <a:endParaRPr lang="en-US" sz="1300" dirty="0"/>
          </a:p>
        </p:txBody>
      </p:sp>
      <p:sp>
        <p:nvSpPr>
          <p:cNvPr id="12" name="mx2"/>
          <p:cNvSpPr/>
          <p:nvPr/>
        </p:nvSpPr>
        <p:spPr>
          <a:xfrm>
            <a:off x="5120640" y="1691640"/>
            <a:ext cx="2148840" cy="4480560"/>
          </a:xfrm>
          <a:prstGeom prst="roundRect">
            <a:avLst>
              <a:gd name="adj" fmla="val 51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· 전사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기반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8803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스킬 라이브러리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연결 표준과 권한 관리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리더 육성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측정(절감 시간·오류)</a:t>
            </a:r>
            <a:endParaRPr lang="en-US" sz="1300" dirty="0"/>
          </a:p>
        </p:txBody>
      </p:sp>
      <p:sp>
        <p:nvSpPr>
          <p:cNvPr id="16" name="gov"/>
          <p:cNvSpPr/>
          <p:nvPr/>
        </p:nvSpPr>
        <p:spPr>
          <a:xfrm>
            <a:off x="7498080" y="16916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통제 원칙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2860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공개·내부·기밀·개인정보로 나누고 등급별 입력 가능 여부를 정함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926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계정·학습 설정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계정 사용, 학습 허용 해제, 개인 계정과 분리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566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권한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에이전트별 접근 폴더·시스템 지정, 키는 비밀 관리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2062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최종 판단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품질·안전성·판촉 판단은 담당자가 내리고 기록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8463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다단 검증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생성과 검증을 분리하고 원본과 대조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4864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한도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사용 한도와 월간 사용량 리포트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· 작성 근거와 한계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출처와 확인이 필요한 사항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내용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녹음 7개 파일(약 6시간 32분)을 정리한 회의록 기준. 녹음이 없는 구간(1일차 약 1시간, 2일차 약 2시간)은 반영하지 못함. ‘미검증’ 표시 사례와 업계 동향은 강사의 구두 발언으로 1차 출처를 확인하지 않음.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현황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환경의 네트워크 정책으로 DART 원문을 직접 열람하지 못해, 공시를 인용한 보도와 기업정보 사이트를 사용함. 수치는 DART 2025년 사업보고서로 최종 확인 필요.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근거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임상의학본부(약사공론, 2026.3), 경영지원본부 신설(이투데이·아시아경제, 2026.4), 품질경영본부·생산본부(2026.4 임원 인사 보도), 중앙연구소(아시아경제, 2026.6), 글로벌사업본부(메디칼업저버, 2022.1 / 서울신문 K-VIP, 2026.10). 재무·기획은 조직명을 확인하지 못해 기능 단위로 표기.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과제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실습과 과제 사례를 바탕으로 한 제안이며, 실제 효과는 파일럿으로 측정해야 함.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il AX">
  <a:themeElements>
    <a:clrScheme name="Jeil AX">
      <a:dk1>
        <a:srgbClr val="14202E"/>
      </a:dk1>
      <a:lt1>
        <a:srgbClr val="FFFFFF"/>
      </a:lt1>
      <a:dk2>
        <a:srgbClr val="1F3A5F"/>
      </a:dk2>
      <a:lt2>
        <a:srgbClr val="F2F5F8"/>
      </a:lt2>
      <a:accent1>
        <a:srgbClr val="0E7C86"/>
      </a:accent1>
      <a:accent2>
        <a:srgbClr val="1F3A5F"/>
      </a:accent2>
      <a:accent3>
        <a:srgbClr val="A55A12"/>
      </a:accent3>
      <a:accent4>
        <a:srgbClr val="7A5AF5"/>
      </a:accent4>
      <a:accent5>
        <a:srgbClr val="2F7FD0"/>
      </a:accent5>
      <a:accent6>
        <a:srgbClr val="C2405A"/>
      </a:accent6>
      <a:hlink>
        <a:srgbClr val="0E7C86"/>
      </a:hlink>
      <a:folHlink>
        <a:srgbClr val="566273"/>
      </a:folHlink>
    </a:clrScheme>
    <a:fontScheme name="Jeil AX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 경영 교육 결과 보고</dc:title>
  <dc:subject>PptxGenJS Presentation</dc:subject>
  <dc:creator>제일약품 임상의학본부</dc:creator>
  <cp:lastModifiedBy>제일약품 임상의학본부</cp:lastModifiedBy>
  <cp:revision>1</cp:revision>
  <dcterms:created xsi:type="dcterms:W3CDTF">2026-10-13T04:09:58Z</dcterms:created>
  <dcterms:modified xsi:type="dcterms:W3CDTF">2026-10-13T04:09:58Z</dcterms:modified>
</cp:coreProperties>
</file>
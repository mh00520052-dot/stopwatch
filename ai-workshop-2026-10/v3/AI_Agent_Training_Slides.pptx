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0b578434-99dd-077b-8235-dc3b6836d32d}">
          <p14:sldIdLst>
            <p14:sldId id="256"/>
            <p14:sldId id="257"/>
            <p14:sldId id="258"/>
          </p14:sldIdLst>
        </p14:section>
        <p14:section name="1일차" id="{d022f8ce-f56b-94c3-b93e-d2a8cc79081d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2일차" id="{7ec02fcb-aaac-b673-01a4-eec68a898f23}">
          <p14:sldIdLst>
            <p14:sldId id="265"/>
            <p14:sldId id="266"/>
            <p14:sldId id="267"/>
            <p14:sldId id="268"/>
            <p14:sldId id="269"/>
          </p14:sldIdLst>
        </p14:section>
        <p14:section name="당사 시사점" id="{dfda50b3-3225-b442-dd29-29bad4ce8a6f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0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02E"/>
                </a:solidFill>
                <a:latin typeface="+mn-lt"/>
              </a:rPr>
              <a:t>경영진 시간 배분 권고(%, 강사 주장)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시간 배분</c:v>
                </c:pt>
              </c:strCache>
            </c:strRef>
          </c:tx>
          <c:spPr>
            <a:solidFill>
              <a:srgbClr val="5A647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4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64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3A5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모델 선택</c:v>
                  </c:pt>
                  <c:pt idx="1">
                    <c:v>컴퍼니 브레인</c:v>
                  </c:pt>
                  <c:pt idx="2">
                    <c:v>하이브리드 리소스 관리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70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4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20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이틀간의 교육을 아젠다 8개로 정리해 보고드립니다. 교육 내용 7개와 당사 시사점 1개입니다.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1~4번은 1일차, 5~7번은 2일차 교육 내용이며 8번은 당사 적용에 대한 제 정리입니다.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세 가지입니다. 일을 채용하듯 맡기고, 만드는 AI와 검토하는 AI를 나누고, 노하우를 스킬로 쌓는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개인의 AI 활용이 조직 성과로 이어지려면 모델 선택보다 사람·지식·조직을 함께 설계해야 한다는 문제의식으로 과정을 시작했다. 신입 직원에게 일을 줄 때 업무 설명서, 평가 기준, 쓸 수 있는 도구, 하면 안 되는 일을 알려 주듯 AI에게도 똑같이 알려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6요소를 정해 주면 같은 AI라도 결과가 달라집니다. 교육은 0단계부터 5단계까지 끝까지 한 번 경험하는 구성이었습니다.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한 명과 대화하는 대신 역할이 다른 다섯 AI를 불러 쓰고 평가하게 하면, 사람에게는 시킬 수 없는 수준의 반복 검토가 가능하다. 보고서를 쓴 직원 옆에 깐깐한 부장, 업계 전문가, 응원하는 동료, 최종 결재권자를 앉혀 두고 합격점이 나올 때까지 고치게 하는 것과 같다.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코딩을 몰라도 말로 웹페이지를 공개하고, 엑셀을 열지 않고 분석·보고서·대시보드를 만들 수 있었다. 동시에 보안 수칙을 반드시 함께 세워야 한다. 분석 담당 직원에게 엑셀 파일과 “핵심 5가지만 뽑아 보고서로”라고 말하는 것처럼 지시하면 된다. 단, 숫자는 반드시 원본과 맞춰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스킬은 반복 업무의 절차와 기준을 적어 둔 파일로, 한 번 만들면 누구나 같은 품질로 다시 실행할 수 있는 회사 자산이 된다. 잘하는 선배의 업무 노하우를 업무 매뉴얼로 써 두면 신입도 같은 품질로 일할 수 있다. 그 매뉴얼을 AI가 읽고 실행하는 것이 스킬이다.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참석자 6명이 직접 만든 스킬을 발표했고, AI를 외부 서비스(카카오톡)와 연결해 메시지를 보내는 실습을 했다. MCP는 AI용 만능 충전 단자다. 한 번 규격을 맞추면 카카오톡, 공시 시스템, 사내 시스템에 같은 방식으로 꽂아 쓸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긴 대화로 일을 시키면 AI가 중간에 타협하거나 목표를 잊는다. 목표를 고정하고 만드는 AI와 검토하는 AI를 나누면 끝까지 해낸다. 팀장에게 “이 목표를 달성할 때까지 팀을 꾸려 일하고, 검수팀 통과하면 보고해”라고 한 번 지시해 두는 것과 같다.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실습은 10분 안팎에 시안이 나왔지만, 실제 업무 품질은 원자료 대조와 담당자 확인으로 검증해야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AI를 도입해도 성과가 안 나는 이유는 회사 지식이 AI가 읽을 수 있게 정리돼 있지 않기 때문이며, 앞으로는 사람과 에이전트를 함께 관리하는 조직 설계가 핵심이라는 것이 강사의 결론이었다. 좋은 도구를 사는 것보다, 우리 회사의 일하는 방식을 AI가 읽을 수 있는 매뉴얼로 정리하고 사람과 AI의 역할을 나누는 것이 더 중요하다.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교육에서 실습한 방식은 공개 데이터를 다루는 반복 업무에 바로 적용할 수 있다. 사내·규제 데이터는 통제 규칙을 먼저 갖춘 뒤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보안 가이드를 먼저 세우고, 환자 정보가 없는 공개 데이터 업무 2건으로 시간과 정확도, 비용을 측정해 확대 여부를 판단하겠습니다.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7C8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제일약품 임상의학본부 · AI 에이전트 경영 교육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제일약품 임상의학본부 · AI 에이전트 경영 교육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1"/>
          <p:cNvSpPr/>
          <p:nvPr/>
        </p:nvSpPr>
        <p:spPr>
          <a:xfrm>
            <a:off x="731520" y="1051560"/>
            <a:ext cx="822960" cy="8229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con-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257300"/>
            <a:ext cx="411480" cy="411480"/>
          </a:xfrm>
          <a:prstGeom prst="rect">
            <a:avLst/>
          </a:prstGeom>
        </p:spPr>
      </p:pic>
      <p:sp>
        <p:nvSpPr>
          <p:cNvPr id="4" name="txt-3"/>
          <p:cNvSpPr txBox="1"/>
          <p:nvPr/>
        </p:nvSpPr>
        <p:spPr>
          <a:xfrm>
            <a:off x="73152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FD3D9"/>
                </a:solidFill>
              </a:rPr>
              <a:t>교육 결과 보고 · 2026년 10월</a:t>
            </a:r>
            <a:endParaRPr lang="en-US" sz="1600" dirty="0"/>
          </a:p>
        </p:txBody>
      </p:sp>
      <p:sp>
        <p:nvSpPr>
          <p:cNvPr id="5" name="txt-4"/>
          <p:cNvSpPr txBox="1"/>
          <p:nvPr/>
        </p:nvSpPr>
        <p:spPr>
          <a:xfrm>
            <a:off x="731520" y="25603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AI 에이전트 경영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교육 회의록</a:t>
            </a:r>
            <a:endParaRPr lang="en-US" sz="4600" dirty="0"/>
          </a:p>
        </p:txBody>
      </p:sp>
      <p:sp>
        <p:nvSpPr>
          <p:cNvPr id="6" name="txt-5"/>
          <p:cNvSpPr txBox="1"/>
          <p:nvPr/>
        </p:nvSpPr>
        <p:spPr>
          <a:xfrm>
            <a:off x="73152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EF"/>
                </a:solidFill>
              </a:rPr>
              <a:t>IGM ‘에이전트 경영: Claude 실습 워크숍’ 1·2일차</a:t>
            </a:r>
            <a:endParaRPr lang="en-US" sz="1800" dirty="0"/>
          </a:p>
        </p:txBody>
      </p:sp>
      <p:sp>
        <p:nvSpPr>
          <p:cNvPr id="7" name="txt-6"/>
          <p:cNvSpPr txBox="1"/>
          <p:nvPr/>
        </p:nvSpPr>
        <p:spPr>
          <a:xfrm>
            <a:off x="73152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FC2D6"/>
                </a:solidFill>
              </a:rPr>
              <a:t>보고: 조민희 임상의학본부장 · 공동 참석: 김현수 제일파마홀딩스 경영지원본부장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FC2D6"/>
                </a:solidFill>
              </a:rPr>
              <a:t>1일차 10월 2일(금), 2일차 10월 8일(목) · 강사 강정우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아젠다</a:t>
            </a:r>
            <a:endParaRPr lang="en-US" sz="3000" dirty="0"/>
          </a:p>
        </p:txBody>
      </p:sp>
      <p:sp>
        <p:nvSpPr>
          <p:cNvPr id="4" name="card-7"/>
          <p:cNvSpPr/>
          <p:nvPr/>
        </p:nvSpPr>
        <p:spPr>
          <a:xfrm>
            <a:off x="548640" y="160020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-8"/>
          <p:cNvSpPr/>
          <p:nvPr/>
        </p:nvSpPr>
        <p:spPr>
          <a:xfrm>
            <a:off x="731520" y="1783080"/>
            <a:ext cx="594360" cy="59436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xt-9"/>
          <p:cNvSpPr txBox="1"/>
          <p:nvPr/>
        </p:nvSpPr>
        <p:spPr>
          <a:xfrm>
            <a:off x="73152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xt-10"/>
          <p:cNvSpPr txBox="1"/>
          <p:nvPr/>
        </p:nvSpPr>
        <p:spPr>
          <a:xfrm>
            <a:off x="1508760" y="17099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과정 소개: AI 전환의 경영 과제</a:t>
            </a:r>
            <a:endParaRPr lang="en-US" sz="1600" dirty="0"/>
          </a:p>
        </p:txBody>
      </p:sp>
      <p:sp>
        <p:nvSpPr>
          <p:cNvPr id="8" name="txt-11"/>
          <p:cNvSpPr txBox="1"/>
          <p:nvPr/>
        </p:nvSpPr>
        <p:spPr>
          <a:xfrm>
            <a:off x="1508760" y="21031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10/2(금) 13:00  </a:t>
            </a:r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AI 도입의 4대 과제와 에이전트에게 일 맡기는 6요소</a:t>
            </a:r>
            <a:endParaRPr lang="en-US" sz="1250" dirty="0"/>
          </a:p>
        </p:txBody>
      </p:sp>
      <p:sp>
        <p:nvSpPr>
          <p:cNvPr id="9" name="card-12"/>
          <p:cNvSpPr/>
          <p:nvPr/>
        </p:nvSpPr>
        <p:spPr>
          <a:xfrm>
            <a:off x="548640" y="269748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-13"/>
          <p:cNvSpPr/>
          <p:nvPr/>
        </p:nvSpPr>
        <p:spPr>
          <a:xfrm>
            <a:off x="731520" y="2880360"/>
            <a:ext cx="594360" cy="59436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xt-14"/>
          <p:cNvSpPr txBox="1"/>
          <p:nvPr/>
        </p:nvSpPr>
        <p:spPr>
          <a:xfrm>
            <a:off x="731520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xt-15"/>
          <p:cNvSpPr txBox="1"/>
          <p:nvPr/>
        </p:nvSpPr>
        <p:spPr>
          <a:xfrm>
            <a:off x="1508760" y="280720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멀티 페르소나(5컬러) 실습</a:t>
            </a:r>
            <a:endParaRPr lang="en-US" sz="1600" dirty="0"/>
          </a:p>
        </p:txBody>
      </p:sp>
      <p:sp>
        <p:nvSpPr>
          <p:cNvPr id="13" name="txt-16"/>
          <p:cNvSpPr txBox="1"/>
          <p:nvPr/>
        </p:nvSpPr>
        <p:spPr>
          <a:xfrm>
            <a:off x="1508760" y="32004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10/2(금) 14:02  </a:t>
            </a:r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1명이 쓰고 4명이 평가, 9.5점까지 반복</a:t>
            </a:r>
            <a:endParaRPr lang="en-US" sz="1250" dirty="0"/>
          </a:p>
        </p:txBody>
      </p:sp>
      <p:sp>
        <p:nvSpPr>
          <p:cNvPr id="14" name="card-17"/>
          <p:cNvSpPr/>
          <p:nvPr/>
        </p:nvSpPr>
        <p:spPr>
          <a:xfrm>
            <a:off x="548640" y="379476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um-18"/>
          <p:cNvSpPr/>
          <p:nvPr/>
        </p:nvSpPr>
        <p:spPr>
          <a:xfrm>
            <a:off x="731520" y="3977640"/>
            <a:ext cx="594360" cy="59436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xt-19"/>
          <p:cNvSpPr txBox="1"/>
          <p:nvPr/>
        </p:nvSpPr>
        <p:spPr>
          <a:xfrm>
            <a:off x="73152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xt-20"/>
          <p:cNvSpPr txBox="1"/>
          <p:nvPr/>
        </p:nvSpPr>
        <p:spPr>
          <a:xfrm>
            <a:off x="1508760" y="390448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웹 배포·데이터 분석 자동화와 AI 보안</a:t>
            </a:r>
            <a:endParaRPr lang="en-US" sz="1600" dirty="0"/>
          </a:p>
        </p:txBody>
      </p:sp>
      <p:sp>
        <p:nvSpPr>
          <p:cNvPr id="18" name="txt-21"/>
          <p:cNvSpPr txBox="1"/>
          <p:nvPr/>
        </p:nvSpPr>
        <p:spPr>
          <a:xfrm>
            <a:off x="1508760" y="42976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10/2(금) 15:50  </a:t>
            </a:r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엑셀을 열지 않고 분석·슬라이드·대시보드 제작, 보안 수칙</a:t>
            </a:r>
            <a:endParaRPr lang="en-US" sz="1250" dirty="0"/>
          </a:p>
        </p:txBody>
      </p:sp>
      <p:sp>
        <p:nvSpPr>
          <p:cNvPr id="19" name="card-22"/>
          <p:cNvSpPr/>
          <p:nvPr/>
        </p:nvSpPr>
        <p:spPr>
          <a:xfrm>
            <a:off x="548640" y="489204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um-23"/>
          <p:cNvSpPr/>
          <p:nvPr/>
        </p:nvSpPr>
        <p:spPr>
          <a:xfrm>
            <a:off x="731520" y="5074920"/>
            <a:ext cx="594360" cy="59436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txt-24"/>
          <p:cNvSpPr txBox="1"/>
          <p:nvPr/>
        </p:nvSpPr>
        <p:spPr>
          <a:xfrm>
            <a:off x="731520" y="5074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xt-25"/>
          <p:cNvSpPr txBox="1"/>
          <p:nvPr/>
        </p:nvSpPr>
        <p:spPr>
          <a:xfrm>
            <a:off x="1508760" y="500176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스킬(Skill) 만들기</a:t>
            </a:r>
            <a:endParaRPr lang="en-US" sz="1600" dirty="0"/>
          </a:p>
        </p:txBody>
      </p:sp>
      <p:sp>
        <p:nvSpPr>
          <p:cNvPr id="23" name="txt-26"/>
          <p:cNvSpPr txBox="1"/>
          <p:nvPr/>
        </p:nvSpPr>
        <p:spPr>
          <a:xfrm>
            <a:off x="1508760" y="53949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10/2(금) 17:19  </a:t>
            </a:r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반복 업무 노하우를 파일로 남기는 ‘업무 계약서’</a:t>
            </a:r>
            <a:endParaRPr lang="en-US" sz="1250" dirty="0"/>
          </a:p>
        </p:txBody>
      </p:sp>
      <p:sp>
        <p:nvSpPr>
          <p:cNvPr id="24" name="card-27"/>
          <p:cNvSpPr/>
          <p:nvPr/>
        </p:nvSpPr>
        <p:spPr>
          <a:xfrm>
            <a:off x="6172200" y="160020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um-28"/>
          <p:cNvSpPr/>
          <p:nvPr/>
        </p:nvSpPr>
        <p:spPr>
          <a:xfrm>
            <a:off x="6355080" y="1783080"/>
            <a:ext cx="594360" cy="5943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xt-29"/>
          <p:cNvSpPr txBox="1"/>
          <p:nvPr/>
        </p:nvSpPr>
        <p:spPr>
          <a:xfrm>
            <a:off x="635508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xt-30"/>
          <p:cNvSpPr txBox="1"/>
          <p:nvPr/>
        </p:nvSpPr>
        <p:spPr>
          <a:xfrm>
            <a:off x="7132320" y="17099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과제 공유와 MCP 연결</a:t>
            </a:r>
            <a:endParaRPr lang="en-US" sz="1600" dirty="0"/>
          </a:p>
        </p:txBody>
      </p:sp>
      <p:sp>
        <p:nvSpPr>
          <p:cNvPr id="28" name="txt-31"/>
          <p:cNvSpPr txBox="1"/>
          <p:nvPr/>
        </p:nvSpPr>
        <p:spPr>
          <a:xfrm>
            <a:off x="7132320" y="21031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10/8(목) 12:59  </a:t>
            </a:r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참석자 스킬 6건 발표, AI와 외부 시스템 연결 실습</a:t>
            </a:r>
            <a:endParaRPr lang="en-US" sz="1250" dirty="0"/>
          </a:p>
        </p:txBody>
      </p:sp>
      <p:sp>
        <p:nvSpPr>
          <p:cNvPr id="29" name="card-32"/>
          <p:cNvSpPr/>
          <p:nvPr/>
        </p:nvSpPr>
        <p:spPr>
          <a:xfrm>
            <a:off x="6172200" y="269748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num-33"/>
          <p:cNvSpPr/>
          <p:nvPr/>
        </p:nvSpPr>
        <p:spPr>
          <a:xfrm>
            <a:off x="6355080" y="2880360"/>
            <a:ext cx="594360" cy="5943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1" name="txt-34"/>
          <p:cNvSpPr txBox="1"/>
          <p:nvPr/>
        </p:nvSpPr>
        <p:spPr>
          <a:xfrm>
            <a:off x="6355080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2" name="txt-35"/>
          <p:cNvSpPr txBox="1"/>
          <p:nvPr/>
        </p:nvSpPr>
        <p:spPr>
          <a:xfrm>
            <a:off x="7132320" y="280720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/goal·다이나믹 워크플로우·멀티 에이전트</a:t>
            </a:r>
            <a:endParaRPr lang="en-US" sz="1600" dirty="0"/>
          </a:p>
        </p:txBody>
      </p:sp>
      <p:sp>
        <p:nvSpPr>
          <p:cNvPr id="33" name="txt-36"/>
          <p:cNvSpPr txBox="1"/>
          <p:nvPr/>
        </p:nvSpPr>
        <p:spPr>
          <a:xfrm>
            <a:off x="7132320" y="32004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10/8(목) 16:07  </a:t>
            </a:r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목표를 고정하고 여러 AI가 나눠 일하게 하기</a:t>
            </a:r>
            <a:endParaRPr lang="en-US" sz="1250" dirty="0"/>
          </a:p>
        </p:txBody>
      </p:sp>
      <p:sp>
        <p:nvSpPr>
          <p:cNvPr id="34" name="card-37"/>
          <p:cNvSpPr/>
          <p:nvPr/>
        </p:nvSpPr>
        <p:spPr>
          <a:xfrm>
            <a:off x="6172200" y="379476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num-38"/>
          <p:cNvSpPr/>
          <p:nvPr/>
        </p:nvSpPr>
        <p:spPr>
          <a:xfrm>
            <a:off x="6355080" y="3977640"/>
            <a:ext cx="594360" cy="5943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6" name="txt-39"/>
          <p:cNvSpPr txBox="1"/>
          <p:nvPr/>
        </p:nvSpPr>
        <p:spPr>
          <a:xfrm>
            <a:off x="635508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7</a:t>
            </a:r>
            <a:endParaRPr lang="en-US" sz="2000" dirty="0"/>
          </a:p>
        </p:txBody>
      </p:sp>
      <p:sp>
        <p:nvSpPr>
          <p:cNvPr id="37" name="txt-40"/>
          <p:cNvSpPr txBox="1"/>
          <p:nvPr/>
        </p:nvSpPr>
        <p:spPr>
          <a:xfrm>
            <a:off x="7132320" y="390448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종합 토론: 컴퍼니 브레인과 하이브리드 조직</a:t>
            </a:r>
            <a:endParaRPr lang="en-US" sz="1600" dirty="0"/>
          </a:p>
        </p:txBody>
      </p:sp>
      <p:sp>
        <p:nvSpPr>
          <p:cNvPr id="38" name="txt-41"/>
          <p:cNvSpPr txBox="1"/>
          <p:nvPr/>
        </p:nvSpPr>
        <p:spPr>
          <a:xfrm>
            <a:off x="7132320" y="42976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10/8(목) 17:09  </a:t>
            </a:r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성과는 도구보다 회사 지식과 조직 설계가 좌우</a:t>
            </a:r>
            <a:endParaRPr lang="en-US" sz="1250" dirty="0"/>
          </a:p>
        </p:txBody>
      </p:sp>
      <p:sp>
        <p:nvSpPr>
          <p:cNvPr id="39" name="card-42"/>
          <p:cNvSpPr/>
          <p:nvPr/>
        </p:nvSpPr>
        <p:spPr>
          <a:xfrm>
            <a:off x="6172200" y="4892040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E2F2F3"/>
          </a:solidFill>
          <a:ln w="12700">
            <a:solidFill>
              <a:srgbClr val="E2F2F3"/>
            </a:solidFill>
            <a:prstDash val="solid"/>
          </a:ln>
        </p:spPr>
      </p:sp>
      <p:sp>
        <p:nvSpPr>
          <p:cNvPr id="40" name="num-43"/>
          <p:cNvSpPr/>
          <p:nvPr/>
        </p:nvSpPr>
        <p:spPr>
          <a:xfrm>
            <a:off x="6355080" y="5074920"/>
            <a:ext cx="594360" cy="594360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41" name="txt-44"/>
          <p:cNvSpPr txBox="1"/>
          <p:nvPr/>
        </p:nvSpPr>
        <p:spPr>
          <a:xfrm>
            <a:off x="6355080" y="5074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8</a:t>
            </a:r>
            <a:endParaRPr lang="en-US" sz="2000" dirty="0"/>
          </a:p>
        </p:txBody>
      </p:sp>
      <p:sp>
        <p:nvSpPr>
          <p:cNvPr id="42" name="txt-45"/>
          <p:cNvSpPr txBox="1"/>
          <p:nvPr/>
        </p:nvSpPr>
        <p:spPr>
          <a:xfrm>
            <a:off x="7132320" y="500176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당사 시사점과 후속 조치</a:t>
            </a:r>
            <a:endParaRPr lang="en-US" sz="1600" dirty="0"/>
          </a:p>
        </p:txBody>
      </p:sp>
      <p:sp>
        <p:nvSpPr>
          <p:cNvPr id="43" name="txt-46"/>
          <p:cNvSpPr txBox="1"/>
          <p:nvPr/>
        </p:nvSpPr>
        <p:spPr>
          <a:xfrm>
            <a:off x="7132320" y="53949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작성자 정리  </a:t>
            </a:r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공개 데이터 업무부터 작게 시작해 검증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한눈에 보는 핵심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이틀간 배운 것, 세 문장으로</a:t>
            </a:r>
            <a:endParaRPr lang="en-US" sz="3000" dirty="0"/>
          </a:p>
        </p:txBody>
      </p:sp>
      <p:sp>
        <p:nvSpPr>
          <p:cNvPr id="4" name="card-47"/>
          <p:cNvSpPr/>
          <p:nvPr/>
        </p:nvSpPr>
        <p:spPr>
          <a:xfrm>
            <a:off x="548640" y="164592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48"/>
          <p:cNvSpPr/>
          <p:nvPr/>
        </p:nvSpPr>
        <p:spPr>
          <a:xfrm>
            <a:off x="868680" y="1965960"/>
            <a:ext cx="914400" cy="9144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6" name="icon-4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94560"/>
            <a:ext cx="457200" cy="457200"/>
          </a:xfrm>
          <a:prstGeom prst="rect">
            <a:avLst/>
          </a:prstGeom>
        </p:spPr>
      </p:pic>
      <p:sp>
        <p:nvSpPr>
          <p:cNvPr id="7" name="txt-50"/>
          <p:cNvSpPr txBox="1"/>
          <p:nvPr/>
        </p:nvSpPr>
        <p:spPr>
          <a:xfrm>
            <a:off x="868680" y="31089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AI에게 일을 ‘채용하듯’ 맡긴다</a:t>
            </a:r>
            <a:endParaRPr lang="en-US" sz="2000" dirty="0"/>
          </a:p>
        </p:txBody>
      </p:sp>
      <p:sp>
        <p:nvSpPr>
          <p:cNvPr id="8" name="txt-51"/>
          <p:cNvSpPr txBox="1"/>
          <p:nvPr/>
        </p:nvSpPr>
        <p:spPr>
          <a:xfrm>
            <a:off x="868680" y="402336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accent6"/>
                </a:solidFill>
              </a:rPr>
              <a:t>역할, 평가 기준, 배경 자료, 도구, 작업 순서, 금지 사항 6가지를 정해 주면 결과물의 질이 달라진다.</a:t>
            </a:r>
            <a:endParaRPr lang="en-US" sz="1500" dirty="0"/>
          </a:p>
        </p:txBody>
      </p:sp>
      <p:sp>
        <p:nvSpPr>
          <p:cNvPr id="9" name="card-52"/>
          <p:cNvSpPr/>
          <p:nvPr/>
        </p:nvSpPr>
        <p:spPr>
          <a:xfrm>
            <a:off x="4297680" y="164592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-53"/>
          <p:cNvSpPr/>
          <p:nvPr/>
        </p:nvSpPr>
        <p:spPr>
          <a:xfrm>
            <a:off x="4617720" y="1965960"/>
            <a:ext cx="914400" cy="914400"/>
          </a:xfrm>
          <a:prstGeom prst="ellipse">
            <a:avLst/>
          </a:prstGeom>
          <a:solidFill>
            <a:srgbClr val="C2405A"/>
          </a:solidFill>
          <a:ln w="12700">
            <a:solidFill>
              <a:srgbClr val="C2405A"/>
            </a:solidFill>
            <a:prstDash val="solid"/>
          </a:ln>
        </p:spPr>
      </p:sp>
      <p:pic>
        <p:nvPicPr>
          <p:cNvPr id="11" name="icon-5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94560"/>
            <a:ext cx="457200" cy="457200"/>
          </a:xfrm>
          <a:prstGeom prst="rect">
            <a:avLst/>
          </a:prstGeom>
        </p:spPr>
      </p:pic>
      <p:sp>
        <p:nvSpPr>
          <p:cNvPr id="12" name="txt-55"/>
          <p:cNvSpPr txBox="1"/>
          <p:nvPr/>
        </p:nvSpPr>
        <p:spPr>
          <a:xfrm>
            <a:off x="4617720" y="31089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만드는 AI와 검토하는 AI를 나눈다</a:t>
            </a:r>
            <a:endParaRPr lang="en-US" sz="2000" dirty="0"/>
          </a:p>
        </p:txBody>
      </p:sp>
      <p:sp>
        <p:nvSpPr>
          <p:cNvPr id="13" name="txt-56"/>
          <p:cNvSpPr txBox="1"/>
          <p:nvPr/>
        </p:nvSpPr>
        <p:spPr>
          <a:xfrm>
            <a:off x="4617720" y="402336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accent6"/>
                </a:solidFill>
              </a:rPr>
              <a:t>작성자 1명과 평가자 4명이 점수로 반복 검토하고, /goal로 목표를 고정하면 끝까지 해낸다.</a:t>
            </a:r>
            <a:endParaRPr lang="en-US" sz="1500" dirty="0"/>
          </a:p>
        </p:txBody>
      </p:sp>
      <p:sp>
        <p:nvSpPr>
          <p:cNvPr id="14" name="card-57"/>
          <p:cNvSpPr/>
          <p:nvPr/>
        </p:nvSpPr>
        <p:spPr>
          <a:xfrm>
            <a:off x="8046720" y="164592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-58"/>
          <p:cNvSpPr/>
          <p:nvPr/>
        </p:nvSpPr>
        <p:spPr>
          <a:xfrm>
            <a:off x="8366760" y="1965960"/>
            <a:ext cx="914400" cy="9144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6" name="icon-5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194560"/>
            <a:ext cx="457200" cy="457200"/>
          </a:xfrm>
          <a:prstGeom prst="rect">
            <a:avLst/>
          </a:prstGeom>
        </p:spPr>
      </p:pic>
      <p:sp>
        <p:nvSpPr>
          <p:cNvPr id="17" name="txt-60"/>
          <p:cNvSpPr txBox="1"/>
          <p:nvPr/>
        </p:nvSpPr>
        <p:spPr>
          <a:xfrm>
            <a:off x="8366760" y="31089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노하우를 스킬로 쌓는 것이 경쟁력</a:t>
            </a:r>
            <a:endParaRPr lang="en-US" sz="2000" dirty="0"/>
          </a:p>
        </p:txBody>
      </p:sp>
      <p:sp>
        <p:nvSpPr>
          <p:cNvPr id="18" name="txt-61"/>
          <p:cNvSpPr txBox="1"/>
          <p:nvPr/>
        </p:nvSpPr>
        <p:spPr>
          <a:xfrm>
            <a:off x="8366760" y="402336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accent6"/>
                </a:solidFill>
              </a:rPr>
              <a:t>반복 업무를 스킬 파일로 남기면 회사 자산이 된다. 성패는 도구보다 회사 지식과 조직 설계에 달려 있다(강사 주장).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62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7F1F2"/>
                </a:solidFill>
              </a:rPr>
              <a:t>1일차 · 10월 2일(금)</a:t>
            </a:r>
            <a:endParaRPr lang="en-US" sz="1800" dirty="0"/>
          </a:p>
        </p:txBody>
      </p:sp>
      <p:sp>
        <p:nvSpPr>
          <p:cNvPr id="3" name="txt-63"/>
          <p:cNvSpPr txBox="1"/>
          <p:nvPr/>
        </p:nvSpPr>
        <p:spPr>
          <a:xfrm>
            <a:off x="731520" y="1965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프롬프트에서 ‘팀 운영’으로</a:t>
            </a:r>
            <a:endParaRPr lang="en-US" sz="4000" dirty="0"/>
          </a:p>
        </p:txBody>
      </p:sp>
      <p:sp>
        <p:nvSpPr>
          <p:cNvPr id="4" name="num-64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xt-65"/>
          <p:cNvSpPr txBox="1"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xt-66"/>
          <p:cNvSpPr txBox="1"/>
          <p:nvPr/>
        </p:nvSpPr>
        <p:spPr>
          <a:xfrm>
            <a:off x="1371600" y="33649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과정 소개: AI 전환의 경영 과제  ·  AI 도입의 4대 과제와 에이전트에게 일 맡기는 6요소</a:t>
            </a:r>
            <a:endParaRPr lang="en-US" sz="1600" dirty="0"/>
          </a:p>
        </p:txBody>
      </p:sp>
      <p:sp>
        <p:nvSpPr>
          <p:cNvPr id="7" name="num-67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xt-68"/>
          <p:cNvSpPr txBox="1"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xt-69"/>
          <p:cNvSpPr txBox="1"/>
          <p:nvPr/>
        </p:nvSpPr>
        <p:spPr>
          <a:xfrm>
            <a:off x="1371600" y="40507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멀티 페르소나(5컬러) 실습  ·  1명이 쓰고 4명이 평가, 9.5점까지 반복</a:t>
            </a:r>
            <a:endParaRPr lang="en-US" sz="1600" dirty="0"/>
          </a:p>
        </p:txBody>
      </p:sp>
      <p:sp>
        <p:nvSpPr>
          <p:cNvPr id="10" name="num-70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xt-71"/>
          <p:cNvSpPr txBox="1"/>
          <p:nvPr/>
        </p:nvSpPr>
        <p:spPr>
          <a:xfrm>
            <a:off x="73152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xt-72"/>
          <p:cNvSpPr txBox="1"/>
          <p:nvPr/>
        </p:nvSpPr>
        <p:spPr>
          <a:xfrm>
            <a:off x="1371600" y="47365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웹 배포·데이터 분석 자동화와 AI 보안  ·  엑셀을 열지 않고 분석·슬라이드·대시보드 제작, 보안 수칙</a:t>
            </a:r>
            <a:endParaRPr lang="en-US" sz="1600" dirty="0"/>
          </a:p>
        </p:txBody>
      </p:sp>
      <p:sp>
        <p:nvSpPr>
          <p:cNvPr id="13" name="num-73"/>
          <p:cNvSpPr/>
          <p:nvPr/>
        </p:nvSpPr>
        <p:spPr>
          <a:xfrm>
            <a:off x="731520" y="53949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xt-74"/>
          <p:cNvSpPr txBox="1"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xt-75"/>
          <p:cNvSpPr txBox="1"/>
          <p:nvPr/>
        </p:nvSpPr>
        <p:spPr>
          <a:xfrm>
            <a:off x="1371600" y="54223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스킬(Skill) 만들기  ·  반복 업무 노하우를 파일로 남기는 ‘업무 계약서’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아젠다 1 · 과정 소개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 전환은 네 가지 과제를 함께 풀어야 합니다</a:t>
            </a:r>
            <a:endParaRPr lang="en-US" sz="3000" dirty="0"/>
          </a:p>
        </p:txBody>
      </p:sp>
      <p:sp>
        <p:nvSpPr>
          <p:cNvPr id="4" name="card-76"/>
          <p:cNvSpPr/>
          <p:nvPr/>
        </p:nvSpPr>
        <p:spPr>
          <a:xfrm>
            <a:off x="548640" y="1645920"/>
            <a:ext cx="342900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77"/>
          <p:cNvSpPr/>
          <p:nvPr/>
        </p:nvSpPr>
        <p:spPr>
          <a:xfrm>
            <a:off x="822960" y="1920240"/>
            <a:ext cx="685800" cy="6858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6" name="icon-7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091690"/>
            <a:ext cx="342900" cy="342900"/>
          </a:xfrm>
          <a:prstGeom prst="rect">
            <a:avLst/>
          </a:prstGeom>
        </p:spPr>
      </p:pic>
      <p:sp>
        <p:nvSpPr>
          <p:cNvPr id="7" name="txt-79"/>
          <p:cNvSpPr txBox="1"/>
          <p:nvPr/>
        </p:nvSpPr>
        <p:spPr>
          <a:xfrm>
            <a:off x="822960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모델 선택</a:t>
            </a:r>
            <a:endParaRPr lang="en-US" sz="1700" dirty="0"/>
          </a:p>
        </p:txBody>
      </p:sp>
      <p:sp>
        <p:nvSpPr>
          <p:cNvPr id="8" name="txt-80"/>
          <p:cNvSpPr txBox="1"/>
          <p:nvPr/>
        </p:nvSpPr>
        <p:spPr>
          <a:xfrm>
            <a:off x="822960" y="3127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어떤 AI를 쓸지 정하기</a:t>
            </a:r>
            <a:endParaRPr lang="en-US" sz="1400" dirty="0"/>
          </a:p>
        </p:txBody>
      </p:sp>
      <p:sp>
        <p:nvSpPr>
          <p:cNvPr id="9" name="card-81"/>
          <p:cNvSpPr/>
          <p:nvPr/>
        </p:nvSpPr>
        <p:spPr>
          <a:xfrm>
            <a:off x="4160520" y="1645920"/>
            <a:ext cx="342900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-82"/>
          <p:cNvSpPr/>
          <p:nvPr/>
        </p:nvSpPr>
        <p:spPr>
          <a:xfrm>
            <a:off x="4434840" y="1920240"/>
            <a:ext cx="685800" cy="6858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1" name="icon-8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2091690"/>
            <a:ext cx="342900" cy="342900"/>
          </a:xfrm>
          <a:prstGeom prst="rect">
            <a:avLst/>
          </a:prstGeom>
        </p:spPr>
      </p:pic>
      <p:sp>
        <p:nvSpPr>
          <p:cNvPr id="12" name="txt-84"/>
          <p:cNvSpPr txBox="1"/>
          <p:nvPr/>
        </p:nvSpPr>
        <p:spPr>
          <a:xfrm>
            <a:off x="4434840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에이전트 리더 육성</a:t>
            </a:r>
            <a:endParaRPr lang="en-US" sz="1700" dirty="0"/>
          </a:p>
        </p:txBody>
      </p:sp>
      <p:sp>
        <p:nvSpPr>
          <p:cNvPr id="13" name="txt-85"/>
          <p:cNvSpPr txBox="1"/>
          <p:nvPr/>
        </p:nvSpPr>
        <p:spPr>
          <a:xfrm>
            <a:off x="4434840" y="3127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AI 팀을 다룰 리더 키우기</a:t>
            </a:r>
            <a:endParaRPr lang="en-US" sz="1400" dirty="0"/>
          </a:p>
        </p:txBody>
      </p:sp>
      <p:sp>
        <p:nvSpPr>
          <p:cNvPr id="14" name="card-86"/>
          <p:cNvSpPr/>
          <p:nvPr/>
        </p:nvSpPr>
        <p:spPr>
          <a:xfrm>
            <a:off x="548640" y="3794760"/>
            <a:ext cx="342900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-87"/>
          <p:cNvSpPr/>
          <p:nvPr/>
        </p:nvSpPr>
        <p:spPr>
          <a:xfrm>
            <a:off x="822960" y="4069080"/>
            <a:ext cx="685800" cy="6858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6" name="icon-8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4240530"/>
            <a:ext cx="342900" cy="342900"/>
          </a:xfrm>
          <a:prstGeom prst="rect">
            <a:avLst/>
          </a:prstGeom>
        </p:spPr>
      </p:pic>
      <p:sp>
        <p:nvSpPr>
          <p:cNvPr id="17" name="txt-89"/>
          <p:cNvSpPr txBox="1"/>
          <p:nvPr/>
        </p:nvSpPr>
        <p:spPr>
          <a:xfrm>
            <a:off x="822960" y="4892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컴퍼니 브레인</a:t>
            </a:r>
            <a:endParaRPr lang="en-US" sz="1700" dirty="0"/>
          </a:p>
        </p:txBody>
      </p:sp>
      <p:sp>
        <p:nvSpPr>
          <p:cNvPr id="18" name="txt-90"/>
          <p:cNvSpPr txBox="1"/>
          <p:nvPr/>
        </p:nvSpPr>
        <p:spPr>
          <a:xfrm>
            <a:off x="822960" y="5276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회사 지식을 AI가 읽게 정리</a:t>
            </a:r>
            <a:endParaRPr lang="en-US" sz="1400" dirty="0"/>
          </a:p>
        </p:txBody>
      </p:sp>
      <p:sp>
        <p:nvSpPr>
          <p:cNvPr id="19" name="card-91"/>
          <p:cNvSpPr/>
          <p:nvPr/>
        </p:nvSpPr>
        <p:spPr>
          <a:xfrm>
            <a:off x="4160520" y="3794760"/>
            <a:ext cx="342900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-92"/>
          <p:cNvSpPr/>
          <p:nvPr/>
        </p:nvSpPr>
        <p:spPr>
          <a:xfrm>
            <a:off x="4434840" y="4069080"/>
            <a:ext cx="685800" cy="685800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pic>
        <p:nvPicPr>
          <p:cNvPr id="21" name="icon-9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290" y="4240530"/>
            <a:ext cx="342900" cy="342900"/>
          </a:xfrm>
          <a:prstGeom prst="rect">
            <a:avLst/>
          </a:prstGeom>
        </p:spPr>
      </p:pic>
      <p:sp>
        <p:nvSpPr>
          <p:cNvPr id="22" name="txt-94"/>
          <p:cNvSpPr txBox="1"/>
          <p:nvPr/>
        </p:nvSpPr>
        <p:spPr>
          <a:xfrm>
            <a:off x="4434840" y="4892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하이브리드 리소스 관리</a:t>
            </a:r>
            <a:endParaRPr lang="en-US" sz="1700" dirty="0"/>
          </a:p>
        </p:txBody>
      </p:sp>
      <p:sp>
        <p:nvSpPr>
          <p:cNvPr id="23" name="txt-95"/>
          <p:cNvSpPr txBox="1"/>
          <p:nvPr/>
        </p:nvSpPr>
        <p:spPr>
          <a:xfrm>
            <a:off x="4434840" y="5276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사람과 에이전트를 함께 관리</a:t>
            </a:r>
            <a:endParaRPr lang="en-US" sz="1400" dirty="0"/>
          </a:p>
        </p:txBody>
      </p:sp>
      <p:sp>
        <p:nvSpPr>
          <p:cNvPr id="24" name="card-96"/>
          <p:cNvSpPr/>
          <p:nvPr/>
        </p:nvSpPr>
        <p:spPr>
          <a:xfrm>
            <a:off x="7955280" y="164592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5" name="txt-97"/>
          <p:cNvSpPr txBox="1"/>
          <p:nvPr/>
        </p:nvSpPr>
        <p:spPr>
          <a:xfrm>
            <a:off x="822960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FD3D9"/>
                </a:solidFill>
              </a:rPr>
              <a:t>에이전트 리더 선발 기준</a:t>
            </a:r>
            <a:endParaRPr lang="en-US" sz="1700" dirty="0"/>
          </a:p>
        </p:txBody>
      </p:sp>
      <p:sp>
        <p:nvSpPr>
          <p:cNvPr id="26" name="txt-98"/>
          <p:cNvSpPr txBox="1"/>
          <p:nvPr/>
        </p:nvSpPr>
        <p:spPr>
          <a:xfrm>
            <a:off x="8229600" y="237744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먼저 볼 것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E2EF"/>
                </a:solidFill>
              </a:rPr>
              <a:t>도메인 전문성, 결과 책임감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교육으로 채울 것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E2EF"/>
                </a:solidFill>
              </a:rPr>
              <a:t>AI 활용 능력(1~6개월)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E2EF"/>
                </a:solidFill>
              </a:rPr>
              <a:t>책임감이 낮은 사람에게 권한을 주면 사고 위험이 커집니다</a:t>
            </a:r>
            <a:endParaRPr lang="en-US" sz="1500" dirty="0"/>
          </a:p>
        </p:txBody>
      </p:sp>
      <p:sp>
        <p:nvSpPr>
          <p:cNvPr id="27" name="txt-99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강사 주장 포함. 과정 목표: “생각보다 별거 아니다”를 체감하고 각자 스킬 1개를 직접 만들기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아젠다 1 · 과정 소개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AI에게 일을 맡길 때 정해 줄 6가지</a:t>
            </a:r>
            <a:endParaRPr lang="en-US" sz="3000" dirty="0"/>
          </a:p>
        </p:txBody>
      </p:sp>
      <p:sp>
        <p:nvSpPr>
          <p:cNvPr id="4" name="card-100"/>
          <p:cNvSpPr/>
          <p:nvPr/>
        </p:nvSpPr>
        <p:spPr>
          <a:xfrm>
            <a:off x="548640" y="1600200"/>
            <a:ext cx="3566160" cy="1261872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101"/>
          <p:cNvSpPr/>
          <p:nvPr/>
        </p:nvSpPr>
        <p:spPr>
          <a:xfrm>
            <a:off x="777240" y="1874520"/>
            <a:ext cx="713232" cy="71323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con-10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052828"/>
            <a:ext cx="356616" cy="356616"/>
          </a:xfrm>
          <a:prstGeom prst="rect">
            <a:avLst/>
          </a:prstGeom>
        </p:spPr>
      </p:pic>
      <p:sp>
        <p:nvSpPr>
          <p:cNvPr id="7" name="txt-103"/>
          <p:cNvSpPr txBox="1"/>
          <p:nvPr/>
        </p:nvSpPr>
        <p:spPr>
          <a:xfrm>
            <a:off x="1691640" y="1874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역할</a:t>
            </a:r>
            <a:endParaRPr lang="en-US" sz="1800" dirty="0"/>
          </a:p>
        </p:txBody>
      </p:sp>
      <p:sp>
        <p:nvSpPr>
          <p:cNvPr id="8" name="txt-104"/>
          <p:cNvSpPr txBox="1"/>
          <p:nvPr/>
        </p:nvSpPr>
        <p:spPr>
          <a:xfrm>
            <a:off x="1691640" y="2286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누구로서 일하는가</a:t>
            </a:r>
            <a:endParaRPr lang="en-US" sz="1400" dirty="0"/>
          </a:p>
        </p:txBody>
      </p:sp>
      <p:sp>
        <p:nvSpPr>
          <p:cNvPr id="9" name="card-105"/>
          <p:cNvSpPr/>
          <p:nvPr/>
        </p:nvSpPr>
        <p:spPr>
          <a:xfrm>
            <a:off x="4297680" y="1600200"/>
            <a:ext cx="3566160" cy="1261872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-106"/>
          <p:cNvSpPr/>
          <p:nvPr/>
        </p:nvSpPr>
        <p:spPr>
          <a:xfrm>
            <a:off x="4526280" y="1874520"/>
            <a:ext cx="713232" cy="71323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1" name="icon-10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588" y="2052828"/>
            <a:ext cx="356616" cy="356616"/>
          </a:xfrm>
          <a:prstGeom prst="rect">
            <a:avLst/>
          </a:prstGeom>
        </p:spPr>
      </p:pic>
      <p:sp>
        <p:nvSpPr>
          <p:cNvPr id="12" name="txt-108"/>
          <p:cNvSpPr txBox="1"/>
          <p:nvPr/>
        </p:nvSpPr>
        <p:spPr>
          <a:xfrm>
            <a:off x="5440680" y="1874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평가 기준</a:t>
            </a:r>
            <a:endParaRPr lang="en-US" sz="1800" dirty="0"/>
          </a:p>
        </p:txBody>
      </p:sp>
      <p:sp>
        <p:nvSpPr>
          <p:cNvPr id="13" name="txt-109"/>
          <p:cNvSpPr txBox="1"/>
          <p:nvPr/>
        </p:nvSpPr>
        <p:spPr>
          <a:xfrm>
            <a:off x="5440680" y="2286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몇 점이면 합격인가</a:t>
            </a:r>
            <a:endParaRPr lang="en-US" sz="1400" dirty="0"/>
          </a:p>
        </p:txBody>
      </p:sp>
      <p:sp>
        <p:nvSpPr>
          <p:cNvPr id="14" name="card-110"/>
          <p:cNvSpPr/>
          <p:nvPr/>
        </p:nvSpPr>
        <p:spPr>
          <a:xfrm>
            <a:off x="8046720" y="1600200"/>
            <a:ext cx="3566160" cy="1261872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-111"/>
          <p:cNvSpPr/>
          <p:nvPr/>
        </p:nvSpPr>
        <p:spPr>
          <a:xfrm>
            <a:off x="8275320" y="1874520"/>
            <a:ext cx="713232" cy="71323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6" name="icon-11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052828"/>
            <a:ext cx="356616" cy="356616"/>
          </a:xfrm>
          <a:prstGeom prst="rect">
            <a:avLst/>
          </a:prstGeom>
        </p:spPr>
      </p:pic>
      <p:sp>
        <p:nvSpPr>
          <p:cNvPr id="17" name="txt-113"/>
          <p:cNvSpPr txBox="1"/>
          <p:nvPr/>
        </p:nvSpPr>
        <p:spPr>
          <a:xfrm>
            <a:off x="9189720" y="1874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컨텍스트</a:t>
            </a:r>
            <a:endParaRPr lang="en-US" sz="1800" dirty="0"/>
          </a:p>
        </p:txBody>
      </p:sp>
      <p:sp>
        <p:nvSpPr>
          <p:cNvPr id="18" name="txt-114"/>
          <p:cNvSpPr txBox="1"/>
          <p:nvPr/>
        </p:nvSpPr>
        <p:spPr>
          <a:xfrm>
            <a:off x="9189720" y="2286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판단에 필요한 배경 자료</a:t>
            </a:r>
            <a:endParaRPr lang="en-US" sz="1400" dirty="0"/>
          </a:p>
        </p:txBody>
      </p:sp>
      <p:sp>
        <p:nvSpPr>
          <p:cNvPr id="19" name="card-115"/>
          <p:cNvSpPr/>
          <p:nvPr/>
        </p:nvSpPr>
        <p:spPr>
          <a:xfrm>
            <a:off x="548640" y="3017520"/>
            <a:ext cx="3566160" cy="1261872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-116"/>
          <p:cNvSpPr/>
          <p:nvPr/>
        </p:nvSpPr>
        <p:spPr>
          <a:xfrm>
            <a:off x="777240" y="3291840"/>
            <a:ext cx="713232" cy="71323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1" name="icon-1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3470148"/>
            <a:ext cx="356616" cy="356616"/>
          </a:xfrm>
          <a:prstGeom prst="rect">
            <a:avLst/>
          </a:prstGeom>
        </p:spPr>
      </p:pic>
      <p:sp>
        <p:nvSpPr>
          <p:cNvPr id="22" name="txt-118"/>
          <p:cNvSpPr txBox="1"/>
          <p:nvPr/>
        </p:nvSpPr>
        <p:spPr>
          <a:xfrm>
            <a:off x="1691640" y="3291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도구</a:t>
            </a:r>
            <a:endParaRPr lang="en-US" sz="1800" dirty="0"/>
          </a:p>
        </p:txBody>
      </p:sp>
      <p:sp>
        <p:nvSpPr>
          <p:cNvPr id="23" name="txt-119"/>
          <p:cNvSpPr txBox="1"/>
          <p:nvPr/>
        </p:nvSpPr>
        <p:spPr>
          <a:xfrm>
            <a:off x="1691640" y="3703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쓸 수 있는 시스템·권한·한도</a:t>
            </a:r>
            <a:endParaRPr lang="en-US" sz="1400" dirty="0"/>
          </a:p>
        </p:txBody>
      </p:sp>
      <p:sp>
        <p:nvSpPr>
          <p:cNvPr id="24" name="card-120"/>
          <p:cNvSpPr/>
          <p:nvPr/>
        </p:nvSpPr>
        <p:spPr>
          <a:xfrm>
            <a:off x="4297680" y="3017520"/>
            <a:ext cx="3566160" cy="1261872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badge-121"/>
          <p:cNvSpPr/>
          <p:nvPr/>
        </p:nvSpPr>
        <p:spPr>
          <a:xfrm>
            <a:off x="4526280" y="3291840"/>
            <a:ext cx="713232" cy="71323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6" name="icon-12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588" y="3470148"/>
            <a:ext cx="356616" cy="356616"/>
          </a:xfrm>
          <a:prstGeom prst="rect">
            <a:avLst/>
          </a:prstGeom>
        </p:spPr>
      </p:pic>
      <p:sp>
        <p:nvSpPr>
          <p:cNvPr id="27" name="txt-123"/>
          <p:cNvSpPr txBox="1"/>
          <p:nvPr/>
        </p:nvSpPr>
        <p:spPr>
          <a:xfrm>
            <a:off x="5440680" y="3291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워크플로우</a:t>
            </a:r>
            <a:endParaRPr lang="en-US" sz="1800" dirty="0"/>
          </a:p>
        </p:txBody>
      </p:sp>
      <p:sp>
        <p:nvSpPr>
          <p:cNvPr id="28" name="txt-124"/>
          <p:cNvSpPr txBox="1"/>
          <p:nvPr/>
        </p:nvSpPr>
        <p:spPr>
          <a:xfrm>
            <a:off x="5440680" y="3703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작업 순서와 승인 단계</a:t>
            </a:r>
            <a:endParaRPr lang="en-US" sz="1400" dirty="0"/>
          </a:p>
        </p:txBody>
      </p:sp>
      <p:sp>
        <p:nvSpPr>
          <p:cNvPr id="29" name="card-125"/>
          <p:cNvSpPr/>
          <p:nvPr/>
        </p:nvSpPr>
        <p:spPr>
          <a:xfrm>
            <a:off x="8046720" y="3017520"/>
            <a:ext cx="3566160" cy="1261872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badge-126"/>
          <p:cNvSpPr/>
          <p:nvPr/>
        </p:nvSpPr>
        <p:spPr>
          <a:xfrm>
            <a:off x="8275320" y="3291840"/>
            <a:ext cx="713232" cy="713232"/>
          </a:xfrm>
          <a:prstGeom prst="ellipse">
            <a:avLst/>
          </a:prstGeom>
          <a:solidFill>
            <a:srgbClr val="C2405A"/>
          </a:solidFill>
          <a:ln w="12700">
            <a:solidFill>
              <a:srgbClr val="C2405A"/>
            </a:solidFill>
            <a:prstDash val="solid"/>
          </a:ln>
        </p:spPr>
      </p:sp>
      <p:pic>
        <p:nvPicPr>
          <p:cNvPr id="31" name="icon-12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470148"/>
            <a:ext cx="356616" cy="356616"/>
          </a:xfrm>
          <a:prstGeom prst="rect">
            <a:avLst/>
          </a:prstGeom>
        </p:spPr>
      </p:pic>
      <p:sp>
        <p:nvSpPr>
          <p:cNvPr id="32" name="txt-128"/>
          <p:cNvSpPr txBox="1"/>
          <p:nvPr/>
        </p:nvSpPr>
        <p:spPr>
          <a:xfrm>
            <a:off x="9189720" y="3291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가드레일</a:t>
            </a:r>
            <a:endParaRPr lang="en-US" sz="1800" dirty="0"/>
          </a:p>
        </p:txBody>
      </p:sp>
      <p:sp>
        <p:nvSpPr>
          <p:cNvPr id="33" name="txt-129"/>
          <p:cNvSpPr txBox="1"/>
          <p:nvPr/>
        </p:nvSpPr>
        <p:spPr>
          <a:xfrm>
            <a:off x="9189720" y="3703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절대 하면 안 되는 일</a:t>
            </a:r>
            <a:endParaRPr lang="en-US" sz="1400" dirty="0"/>
          </a:p>
        </p:txBody>
      </p:sp>
      <p:sp>
        <p:nvSpPr>
          <p:cNvPr id="34" name="txt-130"/>
          <p:cNvSpPr txBox="1"/>
          <p:nvPr/>
        </p:nvSpPr>
        <p:spPr>
          <a:xfrm>
            <a:off x="54864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AI 활용 수준 0~5단계(자율주행 비유)</a:t>
            </a:r>
            <a:endParaRPr lang="en-US" sz="1400" dirty="0"/>
          </a:p>
        </p:txBody>
      </p:sp>
      <p:sp>
        <p:nvSpPr>
          <p:cNvPr id="35" name="card-131"/>
          <p:cNvSpPr/>
          <p:nvPr/>
        </p:nvSpPr>
        <p:spPr>
          <a:xfrm>
            <a:off x="548640" y="4956048"/>
            <a:ext cx="2103120" cy="685800"/>
          </a:xfrm>
          <a:prstGeom prst="roundRect">
            <a:avLst>
              <a:gd name="adj" fmla="val 16000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36" name="txt-132"/>
          <p:cNvSpPr txBox="1"/>
          <p:nvPr/>
        </p:nvSpPr>
        <p:spPr>
          <a:xfrm>
            <a:off x="685800" y="495604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 단순 채팅</a:t>
            </a:r>
            <a:endParaRPr lang="en-US" sz="1400" dirty="0"/>
          </a:p>
        </p:txBody>
      </p:sp>
      <p:sp>
        <p:nvSpPr>
          <p:cNvPr id="37" name="card-133"/>
          <p:cNvSpPr/>
          <p:nvPr/>
        </p:nvSpPr>
        <p:spPr>
          <a:xfrm>
            <a:off x="2779776" y="4956048"/>
            <a:ext cx="2103120" cy="685800"/>
          </a:xfrm>
          <a:prstGeom prst="roundRect">
            <a:avLst>
              <a:gd name="adj" fmla="val 16000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38" name="txt-134"/>
          <p:cNvSpPr txBox="1"/>
          <p:nvPr/>
        </p:nvSpPr>
        <p:spPr>
          <a:xfrm>
            <a:off x="2916936" y="495604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1·2 멀티 페르소나</a:t>
            </a:r>
            <a:endParaRPr lang="en-US" sz="1400" dirty="0"/>
          </a:p>
        </p:txBody>
      </p:sp>
      <p:sp>
        <p:nvSpPr>
          <p:cNvPr id="39" name="card-135"/>
          <p:cNvSpPr/>
          <p:nvPr/>
        </p:nvSpPr>
        <p:spPr>
          <a:xfrm>
            <a:off x="5010912" y="4956048"/>
            <a:ext cx="2103120" cy="685800"/>
          </a:xfrm>
          <a:prstGeom prst="roundRect">
            <a:avLst>
              <a:gd name="adj" fmla="val 16000"/>
            </a:avLst>
          </a:prstGeom>
          <a:solidFill>
            <a:srgbClr val="D4EBEC"/>
          </a:solidFill>
          <a:ln w="12700">
            <a:solidFill>
              <a:srgbClr val="D4EBEC"/>
            </a:solidFill>
            <a:prstDash val="solid"/>
          </a:ln>
        </p:spPr>
      </p:sp>
      <p:sp>
        <p:nvSpPr>
          <p:cNvPr id="40" name="txt-136"/>
          <p:cNvSpPr txBox="1"/>
          <p:nvPr/>
        </p:nvSpPr>
        <p:spPr>
          <a:xfrm>
            <a:off x="5148072" y="495604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 나만의 스킬</a:t>
            </a:r>
            <a:endParaRPr lang="en-US" sz="1400" dirty="0"/>
          </a:p>
        </p:txBody>
      </p:sp>
      <p:sp>
        <p:nvSpPr>
          <p:cNvPr id="41" name="card-137"/>
          <p:cNvSpPr/>
          <p:nvPr/>
        </p:nvSpPr>
        <p:spPr>
          <a:xfrm>
            <a:off x="7242048" y="4956048"/>
            <a:ext cx="2103120" cy="685800"/>
          </a:xfrm>
          <a:prstGeom prst="roundRect">
            <a:avLst>
              <a:gd name="adj" fmla="val 16000"/>
            </a:avLst>
          </a:prstGeom>
          <a:solidFill>
            <a:srgbClr val="D4EBEC"/>
          </a:solidFill>
          <a:ln w="12700">
            <a:solidFill>
              <a:srgbClr val="D4EBEC"/>
            </a:solidFill>
            <a:prstDash val="solid"/>
          </a:ln>
        </p:spPr>
      </p:sp>
      <p:sp>
        <p:nvSpPr>
          <p:cNvPr id="42" name="txt-138"/>
          <p:cNvSpPr txBox="1"/>
          <p:nvPr/>
        </p:nvSpPr>
        <p:spPr>
          <a:xfrm>
            <a:off x="7379208" y="495604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 멀티 에이전트</a:t>
            </a:r>
            <a:endParaRPr lang="en-US" sz="1400" dirty="0"/>
          </a:p>
        </p:txBody>
      </p:sp>
      <p:sp>
        <p:nvSpPr>
          <p:cNvPr id="43" name="card-139"/>
          <p:cNvSpPr/>
          <p:nvPr/>
        </p:nvSpPr>
        <p:spPr>
          <a:xfrm>
            <a:off x="9473184" y="4956048"/>
            <a:ext cx="2103120" cy="685800"/>
          </a:xfrm>
          <a:prstGeom prst="roundRect">
            <a:avLst>
              <a:gd name="adj" fmla="val 16000"/>
            </a:avLst>
          </a:prstGeom>
          <a:solidFill>
            <a:srgbClr val="B9E0E2"/>
          </a:solidFill>
          <a:ln w="12700">
            <a:solidFill>
              <a:srgbClr val="B9E0E2"/>
            </a:solidFill>
            <a:prstDash val="solid"/>
          </a:ln>
        </p:spPr>
      </p:sp>
      <p:sp>
        <p:nvSpPr>
          <p:cNvPr id="44" name="txt-140"/>
          <p:cNvSpPr txBox="1"/>
          <p:nvPr/>
        </p:nvSpPr>
        <p:spPr>
          <a:xfrm>
            <a:off x="9610344" y="495604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 자율 실행</a:t>
            </a:r>
            <a:endParaRPr lang="en-US" sz="1400" dirty="0"/>
          </a:p>
        </p:txBody>
      </p:sp>
      <p:sp>
        <p:nvSpPr>
          <p:cNvPr id="45" name="txt-141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쉽게 말하면: 신입 직원에게 업무 설명서·평가 기준·도구·금지 사항을 알려 주듯 AI에게도 알려 준다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아젠다 2 · 멀티 페르소나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1명이 쓰고 4명이 평가, 9.5점이 될 때까지 반복</a:t>
            </a:r>
            <a:endParaRPr lang="en-US" sz="3000" dirty="0"/>
          </a:p>
        </p:txBody>
      </p:sp>
      <p:sp>
        <p:nvSpPr>
          <p:cNvPr id="4" name="badge-142"/>
          <p:cNvSpPr/>
          <p:nvPr/>
        </p:nvSpPr>
        <p:spPr>
          <a:xfrm>
            <a:off x="685800" y="1737360"/>
            <a:ext cx="1051560" cy="1051560"/>
          </a:xfrm>
          <a:prstGeom prst="ellipse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pic>
        <p:nvPicPr>
          <p:cNvPr id="5" name="icon-14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000250"/>
            <a:ext cx="525780" cy="525780"/>
          </a:xfrm>
          <a:prstGeom prst="rect">
            <a:avLst/>
          </a:prstGeom>
        </p:spPr>
      </p:pic>
      <p:sp>
        <p:nvSpPr>
          <p:cNvPr id="6" name="txt-144"/>
          <p:cNvSpPr txBox="1"/>
          <p:nvPr/>
        </p:nvSpPr>
        <p:spPr>
          <a:xfrm>
            <a:off x="502920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Black</a:t>
            </a:r>
            <a:endParaRPr lang="en-US" sz="1700" dirty="0"/>
          </a:p>
        </p:txBody>
      </p:sp>
      <p:sp>
        <p:nvSpPr>
          <p:cNvPr id="7" name="txt-145"/>
          <p:cNvSpPr txBox="1"/>
          <p:nvPr/>
        </p:nvSpPr>
        <p:spPr>
          <a:xfrm>
            <a:off x="457200" y="3246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작성·팀장</a:t>
            </a:r>
            <a:endParaRPr lang="en-US" sz="1300" dirty="0"/>
          </a:p>
        </p:txBody>
      </p:sp>
      <p:sp>
        <p:nvSpPr>
          <p:cNvPr id="8" name="badge-146"/>
          <p:cNvSpPr/>
          <p:nvPr/>
        </p:nvSpPr>
        <p:spPr>
          <a:xfrm>
            <a:off x="2258568" y="1737360"/>
            <a:ext cx="1051560" cy="1051560"/>
          </a:xfrm>
          <a:prstGeom prst="ellipse">
            <a:avLst/>
          </a:prstGeom>
          <a:solidFill>
            <a:srgbClr val="C8372D"/>
          </a:solidFill>
          <a:ln w="12700">
            <a:solidFill>
              <a:srgbClr val="C8372D"/>
            </a:solidFill>
            <a:prstDash val="solid"/>
          </a:ln>
        </p:spPr>
      </p:sp>
      <p:pic>
        <p:nvPicPr>
          <p:cNvPr id="9" name="icon-14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458" y="2000250"/>
            <a:ext cx="525780" cy="525780"/>
          </a:xfrm>
          <a:prstGeom prst="rect">
            <a:avLst/>
          </a:prstGeom>
        </p:spPr>
      </p:pic>
      <p:sp>
        <p:nvSpPr>
          <p:cNvPr id="10" name="txt-148"/>
          <p:cNvSpPr txBox="1"/>
          <p:nvPr/>
        </p:nvSpPr>
        <p:spPr>
          <a:xfrm>
            <a:off x="2075688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Red</a:t>
            </a:r>
            <a:endParaRPr lang="en-US" sz="1700" dirty="0"/>
          </a:p>
        </p:txBody>
      </p:sp>
      <p:sp>
        <p:nvSpPr>
          <p:cNvPr id="11" name="txt-149"/>
          <p:cNvSpPr txBox="1"/>
          <p:nvPr/>
        </p:nvSpPr>
        <p:spPr>
          <a:xfrm>
            <a:off x="2029968" y="3246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비판(먼저)</a:t>
            </a:r>
            <a:endParaRPr lang="en-US" sz="1300" dirty="0"/>
          </a:p>
        </p:txBody>
      </p:sp>
      <p:sp>
        <p:nvSpPr>
          <p:cNvPr id="12" name="badge-150"/>
          <p:cNvSpPr/>
          <p:nvPr/>
        </p:nvSpPr>
        <p:spPr>
          <a:xfrm>
            <a:off x="3831336" y="1737360"/>
            <a:ext cx="1051560" cy="1051560"/>
          </a:xfrm>
          <a:prstGeom prst="ellipse">
            <a:avLst/>
          </a:prstGeom>
          <a:solidFill>
            <a:srgbClr val="8E98A3"/>
          </a:solidFill>
          <a:ln w="12700">
            <a:solidFill>
              <a:srgbClr val="8E98A3"/>
            </a:solidFill>
            <a:prstDash val="solid"/>
          </a:ln>
        </p:spPr>
      </p:sp>
      <p:pic>
        <p:nvPicPr>
          <p:cNvPr id="13" name="icon-15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226" y="2000250"/>
            <a:ext cx="525780" cy="525780"/>
          </a:xfrm>
          <a:prstGeom prst="rect">
            <a:avLst/>
          </a:prstGeom>
        </p:spPr>
      </p:pic>
      <p:sp>
        <p:nvSpPr>
          <p:cNvPr id="14" name="txt-152"/>
          <p:cNvSpPr txBox="1"/>
          <p:nvPr/>
        </p:nvSpPr>
        <p:spPr>
          <a:xfrm>
            <a:off x="3648456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Silver</a:t>
            </a:r>
            <a:endParaRPr lang="en-US" sz="1700" dirty="0"/>
          </a:p>
        </p:txBody>
      </p:sp>
      <p:sp>
        <p:nvSpPr>
          <p:cNvPr id="15" name="txt-153"/>
          <p:cNvSpPr txBox="1"/>
          <p:nvPr/>
        </p:nvSpPr>
        <p:spPr>
          <a:xfrm>
            <a:off x="3602736" y="3246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업계 전문가</a:t>
            </a:r>
            <a:endParaRPr lang="en-US" sz="1300" dirty="0"/>
          </a:p>
        </p:txBody>
      </p:sp>
      <p:sp>
        <p:nvSpPr>
          <p:cNvPr id="16" name="badge-154"/>
          <p:cNvSpPr/>
          <p:nvPr/>
        </p:nvSpPr>
        <p:spPr>
          <a:xfrm>
            <a:off x="5404104" y="1737360"/>
            <a:ext cx="1051560" cy="1051560"/>
          </a:xfrm>
          <a:prstGeom prst="ellipse">
            <a:avLst/>
          </a:prstGeom>
          <a:solidFill>
            <a:srgbClr val="2F6FD0"/>
          </a:solidFill>
          <a:ln w="12700">
            <a:solidFill>
              <a:srgbClr val="2F6FD0"/>
            </a:solidFill>
            <a:prstDash val="solid"/>
          </a:ln>
        </p:spPr>
      </p:sp>
      <p:pic>
        <p:nvPicPr>
          <p:cNvPr id="17" name="icon-15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6994" y="2000250"/>
            <a:ext cx="525780" cy="525780"/>
          </a:xfrm>
          <a:prstGeom prst="rect">
            <a:avLst/>
          </a:prstGeom>
        </p:spPr>
      </p:pic>
      <p:sp>
        <p:nvSpPr>
          <p:cNvPr id="18" name="txt-156"/>
          <p:cNvSpPr txBox="1"/>
          <p:nvPr/>
        </p:nvSpPr>
        <p:spPr>
          <a:xfrm>
            <a:off x="5221224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Blue</a:t>
            </a:r>
            <a:endParaRPr lang="en-US" sz="1700" dirty="0"/>
          </a:p>
        </p:txBody>
      </p:sp>
      <p:sp>
        <p:nvSpPr>
          <p:cNvPr id="19" name="txt-157"/>
          <p:cNvSpPr txBox="1"/>
          <p:nvPr/>
        </p:nvSpPr>
        <p:spPr>
          <a:xfrm>
            <a:off x="5175504" y="3246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옹호</a:t>
            </a:r>
            <a:endParaRPr lang="en-US" sz="1300" dirty="0"/>
          </a:p>
        </p:txBody>
      </p:sp>
      <p:sp>
        <p:nvSpPr>
          <p:cNvPr id="20" name="badge-158"/>
          <p:cNvSpPr/>
          <p:nvPr/>
        </p:nvSpPr>
        <p:spPr>
          <a:xfrm>
            <a:off x="6976872" y="1737360"/>
            <a:ext cx="1051560" cy="1051560"/>
          </a:xfrm>
          <a:prstGeom prst="ellipse">
            <a:avLst/>
          </a:prstGeom>
          <a:solidFill>
            <a:srgbClr val="C99A1C"/>
          </a:solidFill>
          <a:ln w="12700">
            <a:solidFill>
              <a:srgbClr val="C99A1C"/>
            </a:solidFill>
            <a:prstDash val="solid"/>
          </a:ln>
        </p:spPr>
      </p:sp>
      <p:pic>
        <p:nvPicPr>
          <p:cNvPr id="21" name="icon-15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762" y="2000250"/>
            <a:ext cx="525780" cy="525780"/>
          </a:xfrm>
          <a:prstGeom prst="rect">
            <a:avLst/>
          </a:prstGeom>
        </p:spPr>
      </p:pic>
      <p:sp>
        <p:nvSpPr>
          <p:cNvPr id="22" name="txt-160"/>
          <p:cNvSpPr txBox="1"/>
          <p:nvPr/>
        </p:nvSpPr>
        <p:spPr>
          <a:xfrm>
            <a:off x="6793992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Gold</a:t>
            </a:r>
            <a:endParaRPr lang="en-US" sz="1700" dirty="0"/>
          </a:p>
        </p:txBody>
      </p:sp>
      <p:sp>
        <p:nvSpPr>
          <p:cNvPr id="23" name="txt-161"/>
          <p:cNvSpPr txBox="1"/>
          <p:nvPr/>
        </p:nvSpPr>
        <p:spPr>
          <a:xfrm>
            <a:off x="6748272" y="3246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독자·결재자</a:t>
            </a:r>
            <a:endParaRPr lang="en-US" sz="1300" dirty="0"/>
          </a:p>
        </p:txBody>
      </p:sp>
      <p:sp>
        <p:nvSpPr>
          <p:cNvPr id="24" name="card-162"/>
          <p:cNvSpPr/>
          <p:nvPr/>
        </p:nvSpPr>
        <p:spPr>
          <a:xfrm>
            <a:off x="548640" y="3886200"/>
            <a:ext cx="76809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xt-163"/>
          <p:cNvSpPr txBox="1"/>
          <p:nvPr/>
        </p:nvSpPr>
        <p:spPr>
          <a:xfrm>
            <a:off x="822960" y="4069080"/>
            <a:ext cx="7223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작성 → 10점 만점 평가 → 9.5점 미만이면 수정 → 다시 평가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사람에게는 시킬 수 없는 반복을 AI에게는 시킬 수 있습니다. 평가자 수보다 역할을 나누는 것이 핵심이며, 비판(Red)을 먼저 평가시키면 뒤 평가도 엄격해집니다(강사 경험칙).</a:t>
            </a:r>
            <a:endParaRPr lang="en-US" sz="1500" dirty="0"/>
          </a:p>
        </p:txBody>
      </p:sp>
      <p:sp>
        <p:nvSpPr>
          <p:cNvPr id="26" name="card-164"/>
          <p:cNvSpPr/>
          <p:nvPr/>
        </p:nvSpPr>
        <p:spPr>
          <a:xfrm>
            <a:off x="8503920" y="1691640"/>
            <a:ext cx="3108960" cy="4114800"/>
          </a:xfrm>
          <a:prstGeom prst="roundRect">
            <a:avLst>
              <a:gd name="adj" fmla="val 3529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txt-165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D3D9"/>
                </a:solidFill>
              </a:rPr>
              <a:t>강사 시연</a:t>
            </a:r>
            <a:endParaRPr lang="en-US" sz="1400" dirty="0"/>
          </a:p>
        </p:txBody>
      </p:sp>
      <p:sp>
        <p:nvSpPr>
          <p:cNvPr id="28" name="txt-166"/>
          <p:cNvSpPr txBox="1"/>
          <p:nvPr/>
        </p:nvSpPr>
        <p:spPr>
          <a:xfrm>
            <a:off x="8778240" y="2331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9.6점</a:t>
            </a:r>
            <a:endParaRPr lang="en-US" sz="5400" dirty="0"/>
          </a:p>
        </p:txBody>
      </p:sp>
      <p:sp>
        <p:nvSpPr>
          <p:cNvPr id="29" name="txt-167"/>
          <p:cNvSpPr txBox="1"/>
          <p:nvPr/>
        </p:nvSpPr>
        <p:spPr>
          <a:xfrm>
            <a:off x="8778240" y="33832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E2EF"/>
                </a:solidFill>
              </a:rPr>
              <a:t>반도체 주가 보고서가 1라운드 미달 후 4라운드에서 합격선 통과</a:t>
            </a:r>
            <a:endParaRPr lang="en-US" sz="1400" dirty="0"/>
          </a:p>
        </p:txBody>
      </p:sp>
      <p:sp>
        <p:nvSpPr>
          <p:cNvPr id="30" name="txt-168"/>
          <p:cNvSpPr txBox="1"/>
          <p:nvPr/>
        </p:nvSpPr>
        <p:spPr>
          <a:xfrm>
            <a:off x="8778240" y="45720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FC2D6"/>
                </a:solidFill>
              </a:rPr>
              <a:t>한계: 같은 모델끼리의 평가라 편향을 공유하므로 사실 확인은 따로</a:t>
            </a:r>
            <a:endParaRPr lang="en-US" sz="1250" dirty="0"/>
          </a:p>
        </p:txBody>
      </p:sp>
      <p:sp>
        <p:nvSpPr>
          <p:cNvPr id="31" name="txt-169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실습: 참석자들이 같은 방식으로 ‘10월’ 주제의 시를 쓰고, 프로젝트 지침에 5컬러를 넣어 상시 TF로 운영하는 법을 익힘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아젠다 3 · 데이터 분석 자동화와 보안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엑셀을 열지 않고 분석부터 대시보드까지</a:t>
            </a:r>
            <a:endParaRPr lang="en-US" sz="3000" dirty="0"/>
          </a:p>
        </p:txBody>
      </p:sp>
      <p:sp>
        <p:nvSpPr>
          <p:cNvPr id="4" name="card-170"/>
          <p:cNvSpPr/>
          <p:nvPr/>
        </p:nvSpPr>
        <p:spPr>
          <a:xfrm>
            <a:off x="548640" y="1691640"/>
            <a:ext cx="1645920" cy="23317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171"/>
          <p:cNvSpPr/>
          <p:nvPr/>
        </p:nvSpPr>
        <p:spPr>
          <a:xfrm>
            <a:off x="1005840" y="1874520"/>
            <a:ext cx="731520" cy="73152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6" name="icon-17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057400"/>
            <a:ext cx="365760" cy="365760"/>
          </a:xfrm>
          <a:prstGeom prst="rect">
            <a:avLst/>
          </a:prstGeom>
        </p:spPr>
      </p:pic>
      <p:sp>
        <p:nvSpPr>
          <p:cNvPr id="7" name="txt-173"/>
          <p:cNvSpPr txBox="1"/>
          <p:nvPr/>
        </p:nvSpPr>
        <p:spPr>
          <a:xfrm>
            <a:off x="658368" y="274320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엑셀 9개 매장</a:t>
            </a:r>
            <a:endParaRPr lang="en-US" sz="1450" dirty="0"/>
          </a:p>
        </p:txBody>
      </p:sp>
      <p:sp>
        <p:nvSpPr>
          <p:cNvPr id="8" name="txt-174"/>
          <p:cNvSpPr txBox="1"/>
          <p:nvPr/>
        </p:nvSpPr>
        <p:spPr>
          <a:xfrm>
            <a:off x="658368" y="329184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“EDA 하고 시사점 5개”</a:t>
            </a:r>
            <a:endParaRPr lang="en-US" sz="1200" dirty="0"/>
          </a:p>
        </p:txBody>
      </p:sp>
      <p:sp>
        <p:nvSpPr>
          <p:cNvPr id="9" name="card-175"/>
          <p:cNvSpPr/>
          <p:nvPr/>
        </p:nvSpPr>
        <p:spPr>
          <a:xfrm>
            <a:off x="2331720" y="1691640"/>
            <a:ext cx="1645920" cy="23317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-176"/>
          <p:cNvSpPr/>
          <p:nvPr/>
        </p:nvSpPr>
        <p:spPr>
          <a:xfrm>
            <a:off x="2788920" y="1874520"/>
            <a:ext cx="731520" cy="73152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1" name="icon-17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057400"/>
            <a:ext cx="365760" cy="365760"/>
          </a:xfrm>
          <a:prstGeom prst="rect">
            <a:avLst/>
          </a:prstGeom>
        </p:spPr>
      </p:pic>
      <p:sp>
        <p:nvSpPr>
          <p:cNvPr id="12" name="txt-178"/>
          <p:cNvSpPr txBox="1"/>
          <p:nvPr/>
        </p:nvSpPr>
        <p:spPr>
          <a:xfrm>
            <a:off x="2441448" y="274320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시사점 5개</a:t>
            </a:r>
            <a:endParaRPr lang="en-US" sz="1450" dirty="0"/>
          </a:p>
        </p:txBody>
      </p:sp>
      <p:sp>
        <p:nvSpPr>
          <p:cNvPr id="13" name="txt-179"/>
          <p:cNvSpPr txBox="1"/>
          <p:nvPr/>
        </p:nvSpPr>
        <p:spPr>
          <a:xfrm>
            <a:off x="2441448" y="329184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가격 주도 성장, 인건비 등</a:t>
            </a:r>
            <a:endParaRPr lang="en-US" sz="1200" dirty="0"/>
          </a:p>
        </p:txBody>
      </p:sp>
      <p:sp>
        <p:nvSpPr>
          <p:cNvPr id="14" name="card-180"/>
          <p:cNvSpPr/>
          <p:nvPr/>
        </p:nvSpPr>
        <p:spPr>
          <a:xfrm>
            <a:off x="4114800" y="1691640"/>
            <a:ext cx="1645920" cy="23317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-181"/>
          <p:cNvSpPr/>
          <p:nvPr/>
        </p:nvSpPr>
        <p:spPr>
          <a:xfrm>
            <a:off x="4572000" y="187452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6" name="icon-18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057400"/>
            <a:ext cx="365760" cy="365760"/>
          </a:xfrm>
          <a:prstGeom prst="rect">
            <a:avLst/>
          </a:prstGeom>
        </p:spPr>
      </p:pic>
      <p:sp>
        <p:nvSpPr>
          <p:cNvPr id="17" name="txt-183"/>
          <p:cNvSpPr txBox="1"/>
          <p:nvPr/>
        </p:nvSpPr>
        <p:spPr>
          <a:xfrm>
            <a:off x="4224528" y="274320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보고용 슬라이드</a:t>
            </a:r>
            <a:endParaRPr lang="en-US" sz="1450" dirty="0"/>
          </a:p>
        </p:txBody>
      </p:sp>
      <p:sp>
        <p:nvSpPr>
          <p:cNvPr id="18" name="txt-184"/>
          <p:cNvSpPr txBox="1"/>
          <p:nvPr/>
        </p:nvSpPr>
        <p:spPr>
          <a:xfrm>
            <a:off x="4224528" y="329184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약 8분</a:t>
            </a:r>
            <a:endParaRPr lang="en-US" sz="1200" dirty="0"/>
          </a:p>
        </p:txBody>
      </p:sp>
      <p:sp>
        <p:nvSpPr>
          <p:cNvPr id="19" name="card-185"/>
          <p:cNvSpPr/>
          <p:nvPr/>
        </p:nvSpPr>
        <p:spPr>
          <a:xfrm>
            <a:off x="5897880" y="1691640"/>
            <a:ext cx="1645920" cy="23317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-186"/>
          <p:cNvSpPr/>
          <p:nvPr/>
        </p:nvSpPr>
        <p:spPr>
          <a:xfrm>
            <a:off x="6355080" y="187452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1" name="icon-18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057400"/>
            <a:ext cx="365760" cy="365760"/>
          </a:xfrm>
          <a:prstGeom prst="rect">
            <a:avLst/>
          </a:prstGeom>
        </p:spPr>
      </p:pic>
      <p:sp>
        <p:nvSpPr>
          <p:cNvPr id="22" name="txt-188"/>
          <p:cNvSpPr txBox="1"/>
          <p:nvPr/>
        </p:nvSpPr>
        <p:spPr>
          <a:xfrm>
            <a:off x="6007608" y="274320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대시보드</a:t>
            </a:r>
            <a:endParaRPr lang="en-US" sz="1450" dirty="0"/>
          </a:p>
        </p:txBody>
      </p:sp>
      <p:sp>
        <p:nvSpPr>
          <p:cNvPr id="23" name="txt-189"/>
          <p:cNvSpPr txBox="1"/>
          <p:nvPr/>
        </p:nvSpPr>
        <p:spPr>
          <a:xfrm>
            <a:off x="6007608" y="329184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약 7~8분</a:t>
            </a:r>
            <a:endParaRPr lang="en-US" sz="1200" dirty="0"/>
          </a:p>
        </p:txBody>
      </p:sp>
      <p:sp>
        <p:nvSpPr>
          <p:cNvPr id="24" name="card-190"/>
          <p:cNvSpPr/>
          <p:nvPr/>
        </p:nvSpPr>
        <p:spPr>
          <a:xfrm>
            <a:off x="548640" y="4206240"/>
            <a:ext cx="6995160" cy="1600200"/>
          </a:xfrm>
          <a:prstGeom prst="roundRect">
            <a:avLst>
              <a:gd name="adj" fmla="val 6857"/>
            </a:avLst>
          </a:prstGeom>
          <a:solidFill>
            <a:srgbClr val="E2F2F3"/>
          </a:solidFill>
          <a:ln w="12700">
            <a:solidFill>
              <a:srgbClr val="E2F2F3"/>
            </a:solidFill>
            <a:prstDash val="solid"/>
          </a:ln>
        </p:spPr>
      </p:sp>
      <p:sp>
        <p:nvSpPr>
          <p:cNvPr id="25" name="txt-191"/>
          <p:cNvSpPr txBox="1"/>
          <p:nvPr/>
        </p:nvSpPr>
        <p:spPr>
          <a:xfrm>
            <a:off x="822960" y="4389120"/>
            <a:ext cx="6492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chemeClr val="accent1"/>
                </a:solidFill>
              </a:rPr>
              <a:t>웹페이지 공개 약 20분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코딩 없이 말로 지시해 스톱워치 웹페이지를 GitHub에 올리고 인터넷에 공개(설명 시간 제외). 숫자 결과는 검증 역할 AI가 원본과 대조해야 함.</a:t>
            </a:r>
            <a:endParaRPr lang="en-US" sz="1450" dirty="0"/>
          </a:p>
        </p:txBody>
      </p:sp>
      <p:sp>
        <p:nvSpPr>
          <p:cNvPr id="26" name="txt-192"/>
          <p:cNvSpPr txBox="1"/>
          <p:nvPr/>
        </p:nvSpPr>
        <p:spPr>
          <a:xfrm>
            <a:off x="786384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보안 수칙(강사 권고)</a:t>
            </a:r>
            <a:endParaRPr lang="en-US" sz="1600" dirty="0"/>
          </a:p>
        </p:txBody>
      </p:sp>
      <p:sp>
        <p:nvSpPr>
          <p:cNvPr id="27" name="badge-193"/>
          <p:cNvSpPr/>
          <p:nvPr/>
        </p:nvSpPr>
        <p:spPr>
          <a:xfrm>
            <a:off x="7863840" y="2194560"/>
            <a:ext cx="594360" cy="594360"/>
          </a:xfrm>
          <a:prstGeom prst="ellipse">
            <a:avLst/>
          </a:prstGeom>
          <a:solidFill>
            <a:srgbClr val="C2405A"/>
          </a:solidFill>
          <a:ln w="12700">
            <a:solidFill>
              <a:srgbClr val="C2405A"/>
            </a:solidFill>
            <a:prstDash val="solid"/>
          </a:ln>
        </p:spPr>
      </p:sp>
      <p:pic>
        <p:nvPicPr>
          <p:cNvPr id="28" name="icon-19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2430" y="2343150"/>
            <a:ext cx="297180" cy="297180"/>
          </a:xfrm>
          <a:prstGeom prst="rect">
            <a:avLst/>
          </a:prstGeom>
        </p:spPr>
      </p:pic>
      <p:sp>
        <p:nvSpPr>
          <p:cNvPr id="29" name="txt-195"/>
          <p:cNvSpPr txBox="1"/>
          <p:nvPr/>
        </p:nvSpPr>
        <p:spPr>
          <a:xfrm>
            <a:off x="8595360" y="21762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‘모델 개선에 데이터 사용’ 해제</a:t>
            </a:r>
            <a:endParaRPr lang="en-US" sz="1350" dirty="0"/>
          </a:p>
        </p:txBody>
      </p:sp>
      <p:sp>
        <p:nvSpPr>
          <p:cNvPr id="30" name="badge-196"/>
          <p:cNvSpPr/>
          <p:nvPr/>
        </p:nvSpPr>
        <p:spPr>
          <a:xfrm>
            <a:off x="7863840" y="3108960"/>
            <a:ext cx="594360" cy="594360"/>
          </a:xfrm>
          <a:prstGeom prst="ellipse">
            <a:avLst/>
          </a:prstGeom>
          <a:solidFill>
            <a:srgbClr val="C2405A"/>
          </a:solidFill>
          <a:ln w="12700">
            <a:solidFill>
              <a:srgbClr val="C2405A"/>
            </a:solidFill>
            <a:prstDash val="solid"/>
          </a:ln>
        </p:spPr>
      </p:sp>
      <p:pic>
        <p:nvPicPr>
          <p:cNvPr id="31" name="icon-19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2430" y="3257550"/>
            <a:ext cx="297180" cy="297180"/>
          </a:xfrm>
          <a:prstGeom prst="rect">
            <a:avLst/>
          </a:prstGeom>
        </p:spPr>
      </p:pic>
      <p:sp>
        <p:nvSpPr>
          <p:cNvPr id="32" name="txt-198"/>
          <p:cNvSpPr txBox="1"/>
          <p:nvPr/>
        </p:nvSpPr>
        <p:spPr>
          <a:xfrm>
            <a:off x="8595360" y="30906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회사·개인 계정 분리(대화 기록이 소송에서 공개될 수 있음)</a:t>
            </a:r>
            <a:endParaRPr lang="en-US" sz="1350" dirty="0"/>
          </a:p>
        </p:txBody>
      </p:sp>
      <p:sp>
        <p:nvSpPr>
          <p:cNvPr id="33" name="badge-199"/>
          <p:cNvSpPr/>
          <p:nvPr/>
        </p:nvSpPr>
        <p:spPr>
          <a:xfrm>
            <a:off x="7863840" y="4023360"/>
            <a:ext cx="594360" cy="594360"/>
          </a:xfrm>
          <a:prstGeom prst="ellipse">
            <a:avLst/>
          </a:prstGeom>
          <a:solidFill>
            <a:srgbClr val="C2405A"/>
          </a:solidFill>
          <a:ln w="12700">
            <a:solidFill>
              <a:srgbClr val="C2405A"/>
            </a:solidFill>
            <a:prstDash val="solid"/>
          </a:ln>
        </p:spPr>
      </p:sp>
      <p:pic>
        <p:nvPicPr>
          <p:cNvPr id="34" name="icon-20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2430" y="4171950"/>
            <a:ext cx="297180" cy="297180"/>
          </a:xfrm>
          <a:prstGeom prst="rect">
            <a:avLst/>
          </a:prstGeom>
        </p:spPr>
      </p:pic>
      <p:sp>
        <p:nvSpPr>
          <p:cNvPr id="35" name="txt-201"/>
          <p:cNvSpPr txBox="1"/>
          <p:nvPr/>
        </p:nvSpPr>
        <p:spPr>
          <a:xfrm>
            <a:off x="8595360" y="40050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공유 페이지 기능은 회사가 통제</a:t>
            </a:r>
            <a:endParaRPr lang="en-US" sz="1350" dirty="0"/>
          </a:p>
        </p:txBody>
      </p:sp>
      <p:sp>
        <p:nvSpPr>
          <p:cNvPr id="36" name="badge-202"/>
          <p:cNvSpPr/>
          <p:nvPr/>
        </p:nvSpPr>
        <p:spPr>
          <a:xfrm>
            <a:off x="7863840" y="4937760"/>
            <a:ext cx="594360" cy="594360"/>
          </a:xfrm>
          <a:prstGeom prst="ellipse">
            <a:avLst/>
          </a:prstGeom>
          <a:solidFill>
            <a:srgbClr val="C2405A"/>
          </a:solidFill>
          <a:ln w="12700">
            <a:solidFill>
              <a:srgbClr val="C2405A"/>
            </a:solidFill>
            <a:prstDash val="solid"/>
          </a:ln>
        </p:spPr>
      </p:sp>
      <p:pic>
        <p:nvPicPr>
          <p:cNvPr id="37" name="icon-20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2430" y="5086350"/>
            <a:ext cx="297180" cy="297180"/>
          </a:xfrm>
          <a:prstGeom prst="rect">
            <a:avLst/>
          </a:prstGeom>
        </p:spPr>
      </p:pic>
      <p:sp>
        <p:nvSpPr>
          <p:cNvPr id="38" name="txt-204"/>
          <p:cNvSpPr txBox="1"/>
          <p:nvPr/>
        </p:nvSpPr>
        <p:spPr>
          <a:xfrm>
            <a:off x="8595360" y="49194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접속 키 등 비밀 정보는 저장소에 두지 않기</a:t>
            </a:r>
            <a:endParaRPr lang="en-US" sz="1350" dirty="0"/>
          </a:p>
        </p:txBody>
      </p:sp>
      <p:sp>
        <p:nvSpPr>
          <p:cNvPr id="39" name="txt-205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AI는 질문자가 원하는 답을 해 주는 경향(동조)이 있어 중요한 결정에는 반대 검토가 필요함. 소요 시간은 교육용 데이터 기준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아젠다 4 · 스킬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노하우를 파일로 남기면 회사 자산이 됩니다</a:t>
            </a:r>
            <a:endParaRPr lang="en-US" sz="3000" dirty="0"/>
          </a:p>
        </p:txBody>
      </p:sp>
      <p:sp>
        <p:nvSpPr>
          <p:cNvPr id="4" name="card-206"/>
          <p:cNvSpPr/>
          <p:nvPr/>
        </p:nvSpPr>
        <p:spPr>
          <a:xfrm>
            <a:off x="548640" y="1645920"/>
            <a:ext cx="32918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207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con-20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068830"/>
            <a:ext cx="388620" cy="388620"/>
          </a:xfrm>
          <a:prstGeom prst="rect">
            <a:avLst/>
          </a:prstGeom>
        </p:spPr>
      </p:pic>
      <p:sp>
        <p:nvSpPr>
          <p:cNvPr id="7" name="txt-209"/>
          <p:cNvSpPr txBox="1"/>
          <p:nvPr/>
        </p:nvSpPr>
        <p:spPr>
          <a:xfrm>
            <a:off x="178308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반복 업무</a:t>
            </a:r>
            <a:endParaRPr lang="en-US" sz="1900" dirty="0"/>
          </a:p>
        </p:txBody>
      </p:sp>
      <p:sp>
        <p:nvSpPr>
          <p:cNvPr id="8" name="txt-210"/>
          <p:cNvSpPr txBox="1"/>
          <p:nvPr/>
        </p:nvSpPr>
        <p:spPr>
          <a:xfrm>
            <a:off x="1783080" y="2377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매주·매월 하는 일</a:t>
            </a:r>
            <a:endParaRPr lang="en-US" sz="1400" dirty="0"/>
          </a:p>
        </p:txBody>
      </p:sp>
      <p:sp>
        <p:nvSpPr>
          <p:cNvPr id="9" name="arrow-211"/>
          <p:cNvSpPr/>
          <p:nvPr/>
        </p:nvSpPr>
        <p:spPr>
          <a:xfrm>
            <a:off x="3904488" y="2487168"/>
            <a:ext cx="384048" cy="329184"/>
          </a:xfrm>
          <a:prstGeom prst="rightArrow">
            <a:avLst/>
          </a:prstGeom>
          <a:solidFill>
            <a:srgbClr val="B9C4D0"/>
          </a:solidFill>
          <a:ln w="12700">
            <a:solidFill>
              <a:srgbClr val="B9C4D0"/>
            </a:solidFill>
            <a:prstDash val="solid"/>
          </a:ln>
        </p:spPr>
      </p:sp>
      <p:sp>
        <p:nvSpPr>
          <p:cNvPr id="10" name="card-212"/>
          <p:cNvSpPr/>
          <p:nvPr/>
        </p:nvSpPr>
        <p:spPr>
          <a:xfrm>
            <a:off x="4343400" y="164592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badge-213"/>
          <p:cNvSpPr/>
          <p:nvPr/>
        </p:nvSpPr>
        <p:spPr>
          <a:xfrm>
            <a:off x="4617720" y="1874520"/>
            <a:ext cx="777240" cy="77724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2" name="icon-21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030" y="2068830"/>
            <a:ext cx="388620" cy="388620"/>
          </a:xfrm>
          <a:prstGeom prst="rect">
            <a:avLst/>
          </a:prstGeom>
        </p:spPr>
      </p:pic>
      <p:sp>
        <p:nvSpPr>
          <p:cNvPr id="13" name="txt-215"/>
          <p:cNvSpPr txBox="1"/>
          <p:nvPr/>
        </p:nvSpPr>
        <p:spPr>
          <a:xfrm>
            <a:off x="557784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SKILL.md</a:t>
            </a:r>
            <a:endParaRPr lang="en-US" sz="1900" dirty="0"/>
          </a:p>
        </p:txBody>
      </p:sp>
      <p:sp>
        <p:nvSpPr>
          <p:cNvPr id="14" name="txt-216"/>
          <p:cNvSpPr txBox="1"/>
          <p:nvPr/>
        </p:nvSpPr>
        <p:spPr>
          <a:xfrm>
            <a:off x="5577840" y="2377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6요소로 쓴 업무 계약서</a:t>
            </a:r>
            <a:endParaRPr lang="en-US" sz="1400" dirty="0"/>
          </a:p>
        </p:txBody>
      </p:sp>
      <p:sp>
        <p:nvSpPr>
          <p:cNvPr id="15" name="arrow-217"/>
          <p:cNvSpPr/>
          <p:nvPr/>
        </p:nvSpPr>
        <p:spPr>
          <a:xfrm>
            <a:off x="7699248" y="2487168"/>
            <a:ext cx="384048" cy="329184"/>
          </a:xfrm>
          <a:prstGeom prst="rightArrow">
            <a:avLst/>
          </a:prstGeom>
          <a:solidFill>
            <a:srgbClr val="B9C4D0"/>
          </a:solidFill>
          <a:ln w="12700">
            <a:solidFill>
              <a:srgbClr val="B9C4D0"/>
            </a:solidFill>
            <a:prstDash val="solid"/>
          </a:ln>
        </p:spPr>
      </p:sp>
      <p:sp>
        <p:nvSpPr>
          <p:cNvPr id="16" name="card-218"/>
          <p:cNvSpPr/>
          <p:nvPr/>
        </p:nvSpPr>
        <p:spPr>
          <a:xfrm>
            <a:off x="8138160" y="1645920"/>
            <a:ext cx="32918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adge-219"/>
          <p:cNvSpPr/>
          <p:nvPr/>
        </p:nvSpPr>
        <p:spPr>
          <a:xfrm>
            <a:off x="8412480" y="1874520"/>
            <a:ext cx="777240" cy="7772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con-22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790" y="2068830"/>
            <a:ext cx="388620" cy="388620"/>
          </a:xfrm>
          <a:prstGeom prst="rect">
            <a:avLst/>
          </a:prstGeom>
        </p:spPr>
      </p:pic>
      <p:sp>
        <p:nvSpPr>
          <p:cNvPr id="19" name="txt-221"/>
          <p:cNvSpPr txBox="1"/>
          <p:nvPr/>
        </p:nvSpPr>
        <p:spPr>
          <a:xfrm>
            <a:off x="937260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누구나 재실행</a:t>
            </a:r>
            <a:endParaRPr lang="en-US" sz="1900" dirty="0"/>
          </a:p>
        </p:txBody>
      </p:sp>
      <p:sp>
        <p:nvSpPr>
          <p:cNvPr id="20" name="txt-222"/>
          <p:cNvSpPr txBox="1"/>
          <p:nvPr/>
        </p:nvSpPr>
        <p:spPr>
          <a:xfrm>
            <a:off x="9372600" y="2377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같은 품질로 반복</a:t>
            </a:r>
            <a:endParaRPr lang="en-US" sz="1400" dirty="0"/>
          </a:p>
        </p:txBody>
      </p:sp>
      <p:sp>
        <p:nvSpPr>
          <p:cNvPr id="21" name="txt-223"/>
          <p:cNvSpPr txBox="1"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업무 7단계 중 사람의 몫(강사 주장)</a:t>
            </a:r>
            <a:endParaRPr lang="en-US" sz="1400" dirty="0"/>
          </a:p>
        </p:txBody>
      </p:sp>
      <p:sp>
        <p:nvSpPr>
          <p:cNvPr id="22" name="card-224"/>
          <p:cNvSpPr/>
          <p:nvPr/>
        </p:nvSpPr>
        <p:spPr>
          <a:xfrm>
            <a:off x="548640" y="4389120"/>
            <a:ext cx="1463040" cy="1051560"/>
          </a:xfrm>
          <a:prstGeom prst="roundRect">
            <a:avLst>
              <a:gd name="adj" fmla="val 10435"/>
            </a:avLst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23" name="txt-225"/>
          <p:cNvSpPr txBox="1"/>
          <p:nvPr/>
        </p:nvSpPr>
        <p:spPr>
          <a:xfrm>
            <a:off x="640080" y="44348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1. 목표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사람</a:t>
            </a:r>
            <a:endParaRPr lang="en-US" sz="1500" dirty="0"/>
          </a:p>
        </p:txBody>
      </p:sp>
      <p:sp>
        <p:nvSpPr>
          <p:cNvPr id="24" name="card-226"/>
          <p:cNvSpPr/>
          <p:nvPr/>
        </p:nvSpPr>
        <p:spPr>
          <a:xfrm>
            <a:off x="2130552" y="4389120"/>
            <a:ext cx="1463040" cy="1051560"/>
          </a:xfrm>
          <a:prstGeom prst="roundRect">
            <a:avLst>
              <a:gd name="adj" fmla="val 10435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5" name="txt-227"/>
          <p:cNvSpPr txBox="1"/>
          <p:nvPr/>
        </p:nvSpPr>
        <p:spPr>
          <a:xfrm>
            <a:off x="2221992" y="44348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2. 형식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우위</a:t>
            </a:r>
            <a:endParaRPr lang="en-US" sz="1500" dirty="0"/>
          </a:p>
        </p:txBody>
      </p:sp>
      <p:sp>
        <p:nvSpPr>
          <p:cNvPr id="26" name="card-228"/>
          <p:cNvSpPr/>
          <p:nvPr/>
        </p:nvSpPr>
        <p:spPr>
          <a:xfrm>
            <a:off x="3712464" y="4389120"/>
            <a:ext cx="1463040" cy="1051560"/>
          </a:xfrm>
          <a:prstGeom prst="roundRect">
            <a:avLst>
              <a:gd name="adj" fmla="val 10435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7" name="txt-229"/>
          <p:cNvSpPr txBox="1"/>
          <p:nvPr/>
        </p:nvSpPr>
        <p:spPr>
          <a:xfrm>
            <a:off x="3803904" y="44348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3. 팀 구성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우위</a:t>
            </a:r>
            <a:endParaRPr lang="en-US" sz="1500" dirty="0"/>
          </a:p>
        </p:txBody>
      </p:sp>
      <p:sp>
        <p:nvSpPr>
          <p:cNvPr id="28" name="card-230"/>
          <p:cNvSpPr/>
          <p:nvPr/>
        </p:nvSpPr>
        <p:spPr>
          <a:xfrm>
            <a:off x="5294376" y="4389120"/>
            <a:ext cx="1463040" cy="1051560"/>
          </a:xfrm>
          <a:prstGeom prst="roundRect">
            <a:avLst>
              <a:gd name="adj" fmla="val 10435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9" name="txt-231"/>
          <p:cNvSpPr txBox="1"/>
          <p:nvPr/>
        </p:nvSpPr>
        <p:spPr>
          <a:xfrm>
            <a:off x="5385816" y="44348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4. 리뷰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우위</a:t>
            </a:r>
            <a:endParaRPr lang="en-US" sz="1500" dirty="0"/>
          </a:p>
        </p:txBody>
      </p:sp>
      <p:sp>
        <p:nvSpPr>
          <p:cNvPr id="30" name="card-232"/>
          <p:cNvSpPr/>
          <p:nvPr/>
        </p:nvSpPr>
        <p:spPr>
          <a:xfrm>
            <a:off x="6876288" y="4389120"/>
            <a:ext cx="1463040" cy="1051560"/>
          </a:xfrm>
          <a:prstGeom prst="roundRect">
            <a:avLst>
              <a:gd name="adj" fmla="val 10435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31" name="txt-233"/>
          <p:cNvSpPr txBox="1"/>
          <p:nvPr/>
        </p:nvSpPr>
        <p:spPr>
          <a:xfrm>
            <a:off x="6967728" y="44348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5. 윤문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우위</a:t>
            </a:r>
            <a:endParaRPr lang="en-US" sz="1500" dirty="0"/>
          </a:p>
        </p:txBody>
      </p:sp>
      <p:sp>
        <p:nvSpPr>
          <p:cNvPr id="32" name="card-234"/>
          <p:cNvSpPr/>
          <p:nvPr/>
        </p:nvSpPr>
        <p:spPr>
          <a:xfrm>
            <a:off x="8458200" y="4389120"/>
            <a:ext cx="1463040" cy="1051560"/>
          </a:xfrm>
          <a:prstGeom prst="roundRect">
            <a:avLst>
              <a:gd name="adj" fmla="val 10435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33" name="txt-235"/>
          <p:cNvSpPr txBox="1"/>
          <p:nvPr/>
        </p:nvSpPr>
        <p:spPr>
          <a:xfrm>
            <a:off x="8549640" y="44348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6. 검증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우위</a:t>
            </a:r>
            <a:endParaRPr lang="en-US" sz="1500" dirty="0"/>
          </a:p>
        </p:txBody>
      </p:sp>
      <p:sp>
        <p:nvSpPr>
          <p:cNvPr id="34" name="card-236"/>
          <p:cNvSpPr/>
          <p:nvPr/>
        </p:nvSpPr>
        <p:spPr>
          <a:xfrm>
            <a:off x="10040112" y="4389120"/>
            <a:ext cx="1463040" cy="1051560"/>
          </a:xfrm>
          <a:prstGeom prst="roundRect">
            <a:avLst>
              <a:gd name="adj" fmla="val 10435"/>
            </a:avLst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35" name="txt-237"/>
          <p:cNvSpPr txBox="1"/>
          <p:nvPr/>
        </p:nvSpPr>
        <p:spPr>
          <a:xfrm>
            <a:off x="10131552" y="44348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7. 판단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사람</a:t>
            </a:r>
            <a:endParaRPr lang="en-US" sz="1500" dirty="0"/>
          </a:p>
        </p:txBody>
      </p:sp>
      <p:sp>
        <p:nvSpPr>
          <p:cNvPr id="36" name="txt-238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시연: ‘AI 업계 뉴스 10개 클리핑’ 스킬 약 5분 제작. 기업 계정은 사용량 과금이라 사용 한도를 반드시 정할 것. 과제: 각자 업무 1개를 스킬로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239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7F1F2"/>
                </a:solidFill>
              </a:rPr>
              <a:t>2일차 · 10월 8일(목)</a:t>
            </a:r>
            <a:endParaRPr lang="en-US" sz="1800" dirty="0"/>
          </a:p>
        </p:txBody>
      </p:sp>
      <p:sp>
        <p:nvSpPr>
          <p:cNvPr id="3" name="txt-240"/>
          <p:cNvSpPr txBox="1"/>
          <p:nvPr/>
        </p:nvSpPr>
        <p:spPr>
          <a:xfrm>
            <a:off x="731520" y="1965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연결하고, 맡기고, 끝까지</a:t>
            </a:r>
            <a:endParaRPr lang="en-US" sz="4000" dirty="0"/>
          </a:p>
        </p:txBody>
      </p:sp>
      <p:sp>
        <p:nvSpPr>
          <p:cNvPr id="4" name="num-241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xt-242"/>
          <p:cNvSpPr txBox="1"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5</a:t>
            </a:r>
            <a:endParaRPr lang="en-US" sz="1500" dirty="0"/>
          </a:p>
        </p:txBody>
      </p:sp>
      <p:sp>
        <p:nvSpPr>
          <p:cNvPr id="6" name="txt-243"/>
          <p:cNvSpPr txBox="1"/>
          <p:nvPr/>
        </p:nvSpPr>
        <p:spPr>
          <a:xfrm>
            <a:off x="1371600" y="33649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과제 공유와 MCP 연결  ·  참석자 스킬 6건 발표, AI와 외부 시스템 연결 실습</a:t>
            </a:r>
            <a:endParaRPr lang="en-US" sz="1600" dirty="0"/>
          </a:p>
        </p:txBody>
      </p:sp>
      <p:sp>
        <p:nvSpPr>
          <p:cNvPr id="7" name="num-244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xt-245"/>
          <p:cNvSpPr txBox="1"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6</a:t>
            </a:r>
            <a:endParaRPr lang="en-US" sz="1500" dirty="0"/>
          </a:p>
        </p:txBody>
      </p:sp>
      <p:sp>
        <p:nvSpPr>
          <p:cNvPr id="9" name="txt-246"/>
          <p:cNvSpPr txBox="1"/>
          <p:nvPr/>
        </p:nvSpPr>
        <p:spPr>
          <a:xfrm>
            <a:off x="1371600" y="40507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/goal·다이나믹 워크플로우·멀티 에이전트  ·  목표를 고정하고 여러 AI가 나눠 일하게 하기</a:t>
            </a:r>
            <a:endParaRPr lang="en-US" sz="1600" dirty="0"/>
          </a:p>
        </p:txBody>
      </p:sp>
      <p:sp>
        <p:nvSpPr>
          <p:cNvPr id="10" name="num-247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xt-248"/>
          <p:cNvSpPr txBox="1"/>
          <p:nvPr/>
        </p:nvSpPr>
        <p:spPr>
          <a:xfrm>
            <a:off x="73152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7</a:t>
            </a:r>
            <a:endParaRPr lang="en-US" sz="1500" dirty="0"/>
          </a:p>
        </p:txBody>
      </p:sp>
      <p:sp>
        <p:nvSpPr>
          <p:cNvPr id="12" name="txt-249"/>
          <p:cNvSpPr txBox="1"/>
          <p:nvPr/>
        </p:nvSpPr>
        <p:spPr>
          <a:xfrm>
            <a:off x="1371600" y="47365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종합 토론: 컴퍼니 브레인과 하이브리드 조직  ·  성과는 도구보다 회사 지식과 조직 설계가 좌우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아젠다 5 · 과제 공유와 MCP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참석자 6명이 직접 만든 스킬, 그리고 연결</a:t>
            </a:r>
            <a:endParaRPr lang="en-US" sz="3000" dirty="0"/>
          </a:p>
        </p:txBody>
      </p:sp>
      <p:sp>
        <p:nvSpPr>
          <p:cNvPr id="4" name="card-250"/>
          <p:cNvSpPr/>
          <p:nvPr/>
        </p:nvSpPr>
        <p:spPr>
          <a:xfrm>
            <a:off x="548640" y="1645920"/>
            <a:ext cx="338328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251"/>
          <p:cNvSpPr/>
          <p:nvPr/>
        </p:nvSpPr>
        <p:spPr>
          <a:xfrm>
            <a:off x="731520" y="1801368"/>
            <a:ext cx="585216" cy="585216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6" name="icon-25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947672"/>
            <a:ext cx="292608" cy="292608"/>
          </a:xfrm>
          <a:prstGeom prst="rect">
            <a:avLst/>
          </a:prstGeom>
        </p:spPr>
      </p:pic>
      <p:sp>
        <p:nvSpPr>
          <p:cNvPr id="7" name="txt-253"/>
          <p:cNvSpPr txBox="1"/>
          <p:nvPr/>
        </p:nvSpPr>
        <p:spPr>
          <a:xfrm>
            <a:off x="1463040" y="173736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환율 변동 조기경보</a:t>
            </a:r>
            <a:endParaRPr lang="en-US" sz="1400" dirty="0"/>
          </a:p>
        </p:txBody>
      </p:sp>
      <p:sp>
        <p:nvSpPr>
          <p:cNvPr id="8" name="card-254"/>
          <p:cNvSpPr/>
          <p:nvPr/>
        </p:nvSpPr>
        <p:spPr>
          <a:xfrm>
            <a:off x="4069080" y="1645920"/>
            <a:ext cx="338328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255"/>
          <p:cNvSpPr/>
          <p:nvPr/>
        </p:nvSpPr>
        <p:spPr>
          <a:xfrm>
            <a:off x="4251960" y="1801368"/>
            <a:ext cx="585216" cy="585216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0" name="icon-25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264" y="1947672"/>
            <a:ext cx="292608" cy="292608"/>
          </a:xfrm>
          <a:prstGeom prst="rect">
            <a:avLst/>
          </a:prstGeom>
        </p:spPr>
      </p:pic>
      <p:sp>
        <p:nvSpPr>
          <p:cNvPr id="11" name="txt-257"/>
          <p:cNvSpPr txBox="1"/>
          <p:nvPr/>
        </p:nvSpPr>
        <p:spPr>
          <a:xfrm>
            <a:off x="4983480" y="173736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역량 기반 인력 계획</a:t>
            </a:r>
            <a:endParaRPr lang="en-US" sz="1400" dirty="0"/>
          </a:p>
        </p:txBody>
      </p:sp>
      <p:sp>
        <p:nvSpPr>
          <p:cNvPr id="12" name="card-258"/>
          <p:cNvSpPr/>
          <p:nvPr/>
        </p:nvSpPr>
        <p:spPr>
          <a:xfrm>
            <a:off x="548640" y="2670048"/>
            <a:ext cx="338328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adge-259"/>
          <p:cNvSpPr/>
          <p:nvPr/>
        </p:nvSpPr>
        <p:spPr>
          <a:xfrm>
            <a:off x="731520" y="2825496"/>
            <a:ext cx="585216" cy="585216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4" name="icon-26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971800"/>
            <a:ext cx="292608" cy="292608"/>
          </a:xfrm>
          <a:prstGeom prst="rect">
            <a:avLst/>
          </a:prstGeom>
        </p:spPr>
      </p:pic>
      <p:sp>
        <p:nvSpPr>
          <p:cNvPr id="15" name="txt-261"/>
          <p:cNvSpPr txBox="1"/>
          <p:nvPr/>
        </p:nvSpPr>
        <p:spPr>
          <a:xfrm>
            <a:off x="1463040" y="276148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정부 R&amp;D 사업계획서 지원</a:t>
            </a:r>
            <a:endParaRPr lang="en-US" sz="1400" dirty="0"/>
          </a:p>
        </p:txBody>
      </p:sp>
      <p:sp>
        <p:nvSpPr>
          <p:cNvPr id="16" name="card-262"/>
          <p:cNvSpPr/>
          <p:nvPr/>
        </p:nvSpPr>
        <p:spPr>
          <a:xfrm>
            <a:off x="4069080" y="2670048"/>
            <a:ext cx="338328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adge-263"/>
          <p:cNvSpPr/>
          <p:nvPr/>
        </p:nvSpPr>
        <p:spPr>
          <a:xfrm>
            <a:off x="4251960" y="2825496"/>
            <a:ext cx="585216" cy="585216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8" name="icon-26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2971800"/>
            <a:ext cx="292608" cy="292608"/>
          </a:xfrm>
          <a:prstGeom prst="rect">
            <a:avLst/>
          </a:prstGeom>
        </p:spPr>
      </p:pic>
      <p:sp>
        <p:nvSpPr>
          <p:cNvPr id="19" name="txt-265"/>
          <p:cNvSpPr txBox="1"/>
          <p:nvPr/>
        </p:nvSpPr>
        <p:spPr>
          <a:xfrm>
            <a:off x="4983480" y="276148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월간 경영보고 질문 생성</a:t>
            </a:r>
            <a:endParaRPr lang="en-US" sz="1400" dirty="0"/>
          </a:p>
        </p:txBody>
      </p:sp>
      <p:sp>
        <p:nvSpPr>
          <p:cNvPr id="20" name="card-266"/>
          <p:cNvSpPr/>
          <p:nvPr/>
        </p:nvSpPr>
        <p:spPr>
          <a:xfrm>
            <a:off x="548640" y="3694176"/>
            <a:ext cx="3383280" cy="896112"/>
          </a:xfrm>
          <a:prstGeom prst="roundRect">
            <a:avLst>
              <a:gd name="adj" fmla="val 12245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21" name="badge-267"/>
          <p:cNvSpPr/>
          <p:nvPr/>
        </p:nvSpPr>
        <p:spPr>
          <a:xfrm>
            <a:off x="731520" y="3849624"/>
            <a:ext cx="585216" cy="585216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pic>
        <p:nvPicPr>
          <p:cNvPr id="22" name="icon-26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3995928"/>
            <a:ext cx="292608" cy="292608"/>
          </a:xfrm>
          <a:prstGeom prst="rect">
            <a:avLst/>
          </a:prstGeom>
        </p:spPr>
      </p:pic>
      <p:sp>
        <p:nvSpPr>
          <p:cNvPr id="23" name="txt-269"/>
          <p:cNvSpPr txBox="1"/>
          <p:nvPr/>
        </p:nvSpPr>
        <p:spPr>
          <a:xfrm>
            <a:off x="1463040" y="378561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목요일 팀 점심 추천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(조민희)</a:t>
            </a:r>
            <a:endParaRPr lang="en-US" sz="1400" dirty="0"/>
          </a:p>
        </p:txBody>
      </p:sp>
      <p:sp>
        <p:nvSpPr>
          <p:cNvPr id="24" name="card-270"/>
          <p:cNvSpPr/>
          <p:nvPr/>
        </p:nvSpPr>
        <p:spPr>
          <a:xfrm>
            <a:off x="4069080" y="3694176"/>
            <a:ext cx="3383280" cy="896112"/>
          </a:xfrm>
          <a:prstGeom prst="roundRect">
            <a:avLst>
              <a:gd name="adj" fmla="val 12245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25" name="badge-271"/>
          <p:cNvSpPr/>
          <p:nvPr/>
        </p:nvSpPr>
        <p:spPr>
          <a:xfrm>
            <a:off x="4251960" y="3849624"/>
            <a:ext cx="585216" cy="585216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pic>
        <p:nvPicPr>
          <p:cNvPr id="26" name="icon-27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8264" y="3995928"/>
            <a:ext cx="292608" cy="292608"/>
          </a:xfrm>
          <a:prstGeom prst="rect">
            <a:avLst/>
          </a:prstGeom>
        </p:spPr>
      </p:pic>
      <p:sp>
        <p:nvSpPr>
          <p:cNvPr id="27" name="txt-273"/>
          <p:cNvSpPr txBox="1"/>
          <p:nvPr/>
        </p:nvSpPr>
        <p:spPr>
          <a:xfrm>
            <a:off x="4983480" y="378561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지원자 관점 평판 모니터링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(김현수)</a:t>
            </a:r>
            <a:endParaRPr lang="en-US" sz="1400" dirty="0"/>
          </a:p>
        </p:txBody>
      </p:sp>
      <p:sp>
        <p:nvSpPr>
          <p:cNvPr id="28" name="txt-274"/>
          <p:cNvSpPr txBox="1"/>
          <p:nvPr/>
        </p:nvSpPr>
        <p:spPr>
          <a:xfrm>
            <a:off x="548640" y="4800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당사 과제: 점심 추천은 가게 정보 부족으로 보완 필요, 평판 모니터링은 일부 사이트 접근 제한</a:t>
            </a:r>
            <a:endParaRPr lang="en-US" sz="1300" dirty="0"/>
          </a:p>
        </p:txBody>
      </p:sp>
      <p:sp>
        <p:nvSpPr>
          <p:cNvPr id="29" name="card-275"/>
          <p:cNvSpPr/>
          <p:nvPr/>
        </p:nvSpPr>
        <p:spPr>
          <a:xfrm>
            <a:off x="7726680" y="1645920"/>
            <a:ext cx="3886200" cy="4160520"/>
          </a:xfrm>
          <a:prstGeom prst="roundRect">
            <a:avLst>
              <a:gd name="adj" fmla="val 2824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0" name="badge-276"/>
          <p:cNvSpPr/>
          <p:nvPr/>
        </p:nvSpPr>
        <p:spPr>
          <a:xfrm>
            <a:off x="8001000" y="1874520"/>
            <a:ext cx="777240" cy="7772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1" name="icon-27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5310" y="2068830"/>
            <a:ext cx="388620" cy="388620"/>
          </a:xfrm>
          <a:prstGeom prst="rect">
            <a:avLst/>
          </a:prstGeom>
        </p:spPr>
      </p:pic>
      <p:sp>
        <p:nvSpPr>
          <p:cNvPr id="32" name="txt-278"/>
          <p:cNvSpPr txBox="1"/>
          <p:nvPr/>
        </p:nvSpPr>
        <p:spPr>
          <a:xfrm>
            <a:off x="8001000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MCP = AI용 만능 단자</a:t>
            </a:r>
            <a:endParaRPr lang="en-US" sz="1800" dirty="0"/>
          </a:p>
        </p:txBody>
      </p:sp>
      <p:sp>
        <p:nvSpPr>
          <p:cNvPr id="33" name="txt-279"/>
          <p:cNvSpPr txBox="1"/>
          <p:nvPr/>
        </p:nvSpPr>
        <p:spPr>
          <a:xfrm>
            <a:off x="8001000" y="3291840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D6E2EF"/>
                </a:solidFill>
              </a:rPr>
              <a:t>여러 시스템을 하나의 규격으로 연결(‘USB-C’ 비유). 2024년 11월 Anthropic 공개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D6E2EF"/>
                </a:solidFill>
              </a:rPr>
              <a:t>실습: 카카오톡 ‘나에게 날씨 보내기’ 성공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D6E2EF"/>
                </a:solidFill>
              </a:rPr>
              <a:t>DART 공시도 말로 비교 가능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D6E2EF"/>
                </a:solidFill>
              </a:rPr>
              <a:t>회사 계정은 IT 관리자 승인 필요</a:t>
            </a:r>
            <a:endParaRPr lang="en-US" sz="1350" dirty="0"/>
          </a:p>
        </p:txBody>
      </p:sp>
      <p:sp>
        <p:nvSpPr>
          <p:cNvPr id="34" name="txt-280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강사 시연: 과제 파일 6개를 각기 다른 디자인의 웹 문서로 약 5분 만에 변환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아젠다 6 · /goal과 다이나믹 워크플로우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목표를 고정하고, 만드는 AI와 검토하는 AI를 나눈다</a:t>
            </a:r>
            <a:endParaRPr lang="en-US" sz="3000" dirty="0"/>
          </a:p>
        </p:txBody>
      </p:sp>
      <p:sp>
        <p:nvSpPr>
          <p:cNvPr id="4" name="card-281"/>
          <p:cNvSpPr/>
          <p:nvPr/>
        </p:nvSpPr>
        <p:spPr>
          <a:xfrm>
            <a:off x="548640" y="1645920"/>
            <a:ext cx="5120640" cy="2514600"/>
          </a:xfrm>
          <a:prstGeom prst="roundRect">
            <a:avLst>
              <a:gd name="adj" fmla="val 4364"/>
            </a:avLst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sp>
        <p:nvSpPr>
          <p:cNvPr id="5" name="txt-282"/>
          <p:cNvSpPr txBox="1"/>
          <p:nvPr/>
        </p:nvSpPr>
        <p:spPr>
          <a:xfrm>
            <a:off x="822960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긴 대화로 시키면 생기는 문제</a:t>
            </a:r>
            <a:endParaRPr lang="en-US" sz="1600" dirty="0"/>
          </a:p>
        </p:txBody>
      </p:sp>
      <p:sp>
        <p:nvSpPr>
          <p:cNvPr id="6" name="txt-283"/>
          <p:cNvSpPr txBox="1"/>
          <p:nvPr/>
        </p:nvSpPr>
        <p:spPr>
          <a:xfrm>
            <a:off x="822960" y="228600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중간에 대충 끝내는 게으름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자기 결과를 좋게 보는 편향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앞의 목표를 잊는 맥락 표류</a:t>
            </a:r>
            <a:endParaRPr lang="en-US" sz="1600" dirty="0"/>
          </a:p>
        </p:txBody>
      </p:sp>
      <p:sp>
        <p:nvSpPr>
          <p:cNvPr id="7" name="arrow-284"/>
          <p:cNvSpPr/>
          <p:nvPr/>
        </p:nvSpPr>
        <p:spPr>
          <a:xfrm>
            <a:off x="5806440" y="2697480"/>
            <a:ext cx="502920" cy="411480"/>
          </a:xfrm>
          <a:prstGeom prst="rightArrow">
            <a:avLst/>
          </a:prstGeom>
          <a:solidFill>
            <a:srgbClr val="B9C4D0"/>
          </a:solidFill>
          <a:ln w="12700">
            <a:solidFill>
              <a:srgbClr val="B9C4D0"/>
            </a:solidFill>
            <a:prstDash val="solid"/>
          </a:ln>
        </p:spPr>
      </p:sp>
      <p:sp>
        <p:nvSpPr>
          <p:cNvPr id="8" name="card-285"/>
          <p:cNvSpPr/>
          <p:nvPr/>
        </p:nvSpPr>
        <p:spPr>
          <a:xfrm>
            <a:off x="6446520" y="1645920"/>
            <a:ext cx="5166360" cy="2514600"/>
          </a:xfrm>
          <a:prstGeom prst="roundRect">
            <a:avLst>
              <a:gd name="adj" fmla="val 4364"/>
            </a:avLst>
          </a:prstGeom>
          <a:solidFill>
            <a:srgbClr val="E2F2F3"/>
          </a:solidFill>
          <a:ln w="12700">
            <a:solidFill>
              <a:srgbClr val="E2F2F3"/>
            </a:solidFill>
            <a:prstDash val="solid"/>
          </a:ln>
        </p:spPr>
      </p:sp>
      <p:sp>
        <p:nvSpPr>
          <p:cNvPr id="9" name="txt-286"/>
          <p:cNvSpPr txBox="1"/>
          <p:nvPr/>
        </p:nvSpPr>
        <p:spPr>
          <a:xfrm>
            <a:off x="6720840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처방 두 가지</a:t>
            </a:r>
            <a:endParaRPr lang="en-US" sz="1600" dirty="0"/>
          </a:p>
        </p:txBody>
      </p:sp>
      <p:sp>
        <p:nvSpPr>
          <p:cNvPr id="10" name="txt-287"/>
          <p:cNvSpPr txBox="1"/>
          <p:nvPr/>
        </p:nvSpPr>
        <p:spPr>
          <a:xfrm>
            <a:off x="6720840" y="2286000"/>
            <a:ext cx="4709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/goal: 목표와 완료 조건을 고정하면 달성할 때까지 반복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생성·검증 분리: 여러 AI가 나눠 일하고 서로 검토. 작업 순서 설계도 AI가(다이나믹 워크플로우)</a:t>
            </a:r>
            <a:endParaRPr lang="en-US" sz="1500" dirty="0"/>
          </a:p>
        </p:txBody>
      </p:sp>
      <p:sp>
        <p:nvSpPr>
          <p:cNvPr id="11" name="txt-288"/>
          <p:cNvSpPr txBox="1"/>
          <p:nvPr/>
        </p:nvSpPr>
        <p:spPr>
          <a:xfrm>
            <a:off x="54864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에이전트 활용 5단계</a:t>
            </a:r>
            <a:endParaRPr lang="en-US" sz="1400" dirty="0"/>
          </a:p>
        </p:txBody>
      </p:sp>
      <p:sp>
        <p:nvSpPr>
          <p:cNvPr id="12" name="chev-289"/>
          <p:cNvSpPr/>
          <p:nvPr/>
        </p:nvSpPr>
        <p:spPr>
          <a:xfrm>
            <a:off x="548640" y="4800600"/>
            <a:ext cx="2148840" cy="868680"/>
          </a:xfrm>
          <a:prstGeom prst="chevron">
            <a:avLst/>
          </a:prstGeom>
          <a:solidFill>
            <a:srgbClr val="D4EBEC"/>
          </a:solidFill>
          <a:ln w="12700">
            <a:solidFill>
              <a:srgbClr val="D4EBEC"/>
            </a:solidFill>
            <a:prstDash val="solid"/>
          </a:ln>
        </p:spPr>
      </p:sp>
      <p:sp>
        <p:nvSpPr>
          <p:cNvPr id="13" name="txt-290"/>
          <p:cNvSpPr txBox="1"/>
          <p:nvPr/>
        </p:nvSpPr>
        <p:spPr>
          <a:xfrm>
            <a:off x="868680" y="4800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소환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멀티 페르소나</a:t>
            </a:r>
            <a:endParaRPr lang="en-US" sz="1500" dirty="0"/>
          </a:p>
        </p:txBody>
      </p:sp>
      <p:sp>
        <p:nvSpPr>
          <p:cNvPr id="14" name="chev-291"/>
          <p:cNvSpPr/>
          <p:nvPr/>
        </p:nvSpPr>
        <p:spPr>
          <a:xfrm>
            <a:off x="2779776" y="4800600"/>
            <a:ext cx="2148840" cy="868680"/>
          </a:xfrm>
          <a:prstGeom prst="chevron">
            <a:avLst/>
          </a:prstGeom>
          <a:solidFill>
            <a:srgbClr val="D4EBEC"/>
          </a:solidFill>
          <a:ln w="12700">
            <a:solidFill>
              <a:srgbClr val="D4EBEC"/>
            </a:solidFill>
            <a:prstDash val="solid"/>
          </a:ln>
        </p:spPr>
      </p:sp>
      <p:sp>
        <p:nvSpPr>
          <p:cNvPr id="15" name="txt-292"/>
          <p:cNvSpPr txBox="1"/>
          <p:nvPr/>
        </p:nvSpPr>
        <p:spPr>
          <a:xfrm>
            <a:off x="3099816" y="4800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연결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MCP</a:t>
            </a:r>
            <a:endParaRPr lang="en-US" sz="1500" dirty="0"/>
          </a:p>
        </p:txBody>
      </p:sp>
      <p:sp>
        <p:nvSpPr>
          <p:cNvPr id="16" name="chev-293"/>
          <p:cNvSpPr/>
          <p:nvPr/>
        </p:nvSpPr>
        <p:spPr>
          <a:xfrm>
            <a:off x="5010912" y="4800600"/>
            <a:ext cx="2148840" cy="868680"/>
          </a:xfrm>
          <a:prstGeom prst="chevron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xt-294"/>
          <p:cNvSpPr txBox="1"/>
          <p:nvPr/>
        </p:nvSpPr>
        <p:spPr>
          <a:xfrm>
            <a:off x="5330952" y="4800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계약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스킬</a:t>
            </a:r>
            <a:endParaRPr lang="en-US" sz="1500" dirty="0"/>
          </a:p>
        </p:txBody>
      </p:sp>
      <p:sp>
        <p:nvSpPr>
          <p:cNvPr id="18" name="chev-295"/>
          <p:cNvSpPr/>
          <p:nvPr/>
        </p:nvSpPr>
        <p:spPr>
          <a:xfrm>
            <a:off x="7242048" y="4800600"/>
            <a:ext cx="2148840" cy="868680"/>
          </a:xfrm>
          <a:prstGeom prst="chevron">
            <a:avLst/>
          </a:prstGeom>
          <a:solidFill>
            <a:srgbClr val="D4EBEC"/>
          </a:solidFill>
          <a:ln w="12700">
            <a:solidFill>
              <a:srgbClr val="D4EBEC"/>
            </a:solidFill>
            <a:prstDash val="solid"/>
          </a:ln>
        </p:spPr>
      </p:sp>
      <p:sp>
        <p:nvSpPr>
          <p:cNvPr id="19" name="txt-296"/>
          <p:cNvSpPr txBox="1"/>
          <p:nvPr/>
        </p:nvSpPr>
        <p:spPr>
          <a:xfrm>
            <a:off x="7562088" y="4800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조합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멀티 에이전트</a:t>
            </a:r>
            <a:endParaRPr lang="en-US" sz="1500" dirty="0"/>
          </a:p>
        </p:txBody>
      </p:sp>
      <p:sp>
        <p:nvSpPr>
          <p:cNvPr id="20" name="chev-297"/>
          <p:cNvSpPr/>
          <p:nvPr/>
        </p:nvSpPr>
        <p:spPr>
          <a:xfrm>
            <a:off x="9473184" y="4800600"/>
            <a:ext cx="2148840" cy="868680"/>
          </a:xfrm>
          <a:prstGeom prst="chevron">
            <a:avLst/>
          </a:prstGeom>
          <a:solidFill>
            <a:srgbClr val="D4EBEC"/>
          </a:solidFill>
          <a:ln w="12700">
            <a:solidFill>
              <a:srgbClr val="D4EBEC"/>
            </a:solidFill>
            <a:prstDash val="solid"/>
          </a:ln>
        </p:spPr>
      </p:sp>
      <p:sp>
        <p:nvSpPr>
          <p:cNvPr id="21" name="txt-298"/>
          <p:cNvSpPr txBox="1"/>
          <p:nvPr/>
        </p:nvSpPr>
        <p:spPr>
          <a:xfrm>
            <a:off x="9793224" y="4800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자율 반복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/goal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아젠다 6 · 실습 결과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10분 안팎에 시안이 나오고, 검증은 사람이 합니다</a:t>
            </a:r>
            <a:endParaRPr lang="en-US" sz="3000" dirty="0"/>
          </a:p>
        </p:txBody>
      </p:sp>
      <p:sp>
        <p:nvSpPr>
          <p:cNvPr id="4" name="card-299"/>
          <p:cNvSpPr/>
          <p:nvPr/>
        </p:nvSpPr>
        <p:spPr>
          <a:xfrm>
            <a:off x="548640" y="164592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300"/>
          <p:cNvSpPr/>
          <p:nvPr/>
        </p:nvSpPr>
        <p:spPr>
          <a:xfrm>
            <a:off x="868680" y="192024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con-30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03120"/>
            <a:ext cx="365760" cy="365760"/>
          </a:xfrm>
          <a:prstGeom prst="rect">
            <a:avLst/>
          </a:prstGeom>
        </p:spPr>
      </p:pic>
      <p:sp>
        <p:nvSpPr>
          <p:cNvPr id="7" name="txt-302"/>
          <p:cNvSpPr txBox="1"/>
          <p:nvPr/>
        </p:nvSpPr>
        <p:spPr>
          <a:xfrm>
            <a:off x="868680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10분 20초</a:t>
            </a:r>
            <a:endParaRPr lang="en-US" sz="4000" dirty="0"/>
          </a:p>
        </p:txBody>
      </p:sp>
      <p:sp>
        <p:nvSpPr>
          <p:cNvPr id="8" name="txt-303"/>
          <p:cNvSpPr txBox="1"/>
          <p:nvPr/>
        </p:nvSpPr>
        <p:spPr>
          <a:xfrm>
            <a:off x="868680" y="3611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백과사전 웹 문서</a:t>
            </a:r>
            <a:endParaRPr lang="en-US" sz="1700" dirty="0"/>
          </a:p>
        </p:txBody>
      </p:sp>
      <p:sp>
        <p:nvSpPr>
          <p:cNvPr id="9" name="txt-304"/>
          <p:cNvSpPr txBox="1"/>
          <p:nvPr/>
        </p:nvSpPr>
        <p:spPr>
          <a:xfrm>
            <a:off x="868680" y="40690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/goal과 멀티 에이전트로 ‘초등 3학년 눈높이’ 시안 완성(참석자 1명 기준)</a:t>
            </a:r>
            <a:endParaRPr lang="en-US" sz="1350" dirty="0"/>
          </a:p>
        </p:txBody>
      </p:sp>
      <p:sp>
        <p:nvSpPr>
          <p:cNvPr id="10" name="card-305"/>
          <p:cNvSpPr/>
          <p:nvPr/>
        </p:nvSpPr>
        <p:spPr>
          <a:xfrm>
            <a:off x="4297680" y="164592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adge-306"/>
          <p:cNvSpPr/>
          <p:nvPr/>
        </p:nvSpPr>
        <p:spPr>
          <a:xfrm>
            <a:off x="4617720" y="1920240"/>
            <a:ext cx="731520" cy="73152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2" name="icon-30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103120"/>
            <a:ext cx="365760" cy="365760"/>
          </a:xfrm>
          <a:prstGeom prst="rect">
            <a:avLst/>
          </a:prstGeom>
        </p:spPr>
      </p:pic>
      <p:sp>
        <p:nvSpPr>
          <p:cNvPr id="13" name="txt-308"/>
          <p:cNvSpPr txBox="1"/>
          <p:nvPr/>
        </p:nvSpPr>
        <p:spPr>
          <a:xfrm>
            <a:off x="4617720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약 12분</a:t>
            </a:r>
            <a:endParaRPr lang="en-US" sz="4000" dirty="0"/>
          </a:p>
        </p:txBody>
      </p:sp>
      <p:sp>
        <p:nvSpPr>
          <p:cNvPr id="14" name="txt-309"/>
          <p:cNvSpPr txBox="1"/>
          <p:nvPr/>
        </p:nvSpPr>
        <p:spPr>
          <a:xfrm>
            <a:off x="4617720" y="3611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채용공고 수집·정리</a:t>
            </a:r>
            <a:endParaRPr lang="en-US" sz="1700" dirty="0"/>
          </a:p>
        </p:txBody>
      </p:sp>
      <p:sp>
        <p:nvSpPr>
          <p:cNvPr id="15" name="txt-310"/>
          <p:cNvSpPr txBox="1"/>
          <p:nvPr/>
        </p:nvSpPr>
        <p:spPr>
          <a:xfrm>
            <a:off x="4617720" y="40690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사이트 3곳 공고를 표로 정리하고 요약(강사 시연)</a:t>
            </a:r>
            <a:endParaRPr lang="en-US" sz="1350" dirty="0"/>
          </a:p>
        </p:txBody>
      </p:sp>
      <p:sp>
        <p:nvSpPr>
          <p:cNvPr id="16" name="card-311"/>
          <p:cNvSpPr/>
          <p:nvPr/>
        </p:nvSpPr>
        <p:spPr>
          <a:xfrm>
            <a:off x="8046720" y="164592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adge-312"/>
          <p:cNvSpPr/>
          <p:nvPr/>
        </p:nvSpPr>
        <p:spPr>
          <a:xfrm>
            <a:off x="8366760" y="1920240"/>
            <a:ext cx="731520" cy="73152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8" name="icon-3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103120"/>
            <a:ext cx="365760" cy="365760"/>
          </a:xfrm>
          <a:prstGeom prst="rect">
            <a:avLst/>
          </a:prstGeom>
        </p:spPr>
      </p:pic>
      <p:sp>
        <p:nvSpPr>
          <p:cNvPr id="19" name="txt-314"/>
          <p:cNvSpPr txBox="1"/>
          <p:nvPr/>
        </p:nvSpPr>
        <p:spPr>
          <a:xfrm>
            <a:off x="8366760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약 40분</a:t>
            </a:r>
            <a:endParaRPr lang="en-US" sz="4000" dirty="0"/>
          </a:p>
        </p:txBody>
      </p:sp>
      <p:sp>
        <p:nvSpPr>
          <p:cNvPr id="20" name="txt-315"/>
          <p:cNvSpPr txBox="1"/>
          <p:nvPr/>
        </p:nvSpPr>
        <p:spPr>
          <a:xfrm>
            <a:off x="8366760" y="3611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기사 132건 분석</a:t>
            </a:r>
            <a:endParaRPr lang="en-US" sz="1700" dirty="0"/>
          </a:p>
        </p:txBody>
      </p:sp>
      <p:sp>
        <p:nvSpPr>
          <p:cNvPr id="21" name="txt-316"/>
          <p:cNvSpPr txBox="1"/>
          <p:nvPr/>
        </p:nvSpPr>
        <p:spPr>
          <a:xfrm>
            <a:off x="8366760" y="40690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논조를 점수화하고 쟁점 5개로 분류(강사 사례)</a:t>
            </a:r>
            <a:endParaRPr lang="en-US" sz="1350" dirty="0"/>
          </a:p>
        </p:txBody>
      </p:sp>
      <p:sp>
        <p:nvSpPr>
          <p:cNvPr id="22" name="card-317"/>
          <p:cNvSpPr/>
          <p:nvPr/>
        </p:nvSpPr>
        <p:spPr>
          <a:xfrm>
            <a:off x="548640" y="5394960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23" name="txt-318"/>
          <p:cNvSpPr txBox="1"/>
          <p:nvPr/>
        </p:nvSpPr>
        <p:spPr>
          <a:xfrm>
            <a:off x="777240" y="53949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회사 전용 스킬 라이브러리를 두고 외부에 공개하지 말 것. 스킬 하나하나에 직원의 노하우가 담겨 있다(강사 권고)</a:t>
            </a:r>
            <a:endParaRPr lang="en-US" sz="1400" dirty="0"/>
          </a:p>
        </p:txBody>
      </p:sp>
      <p:sp>
        <p:nvSpPr>
          <p:cNvPr id="24" name="txt-319"/>
          <p:cNvSpPr txBox="1"/>
          <p:nvPr/>
        </p:nvSpPr>
        <p:spPr>
          <a:xfrm>
            <a:off x="548640" y="6080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모두 교육용 데이터 기준이며 결과물은 시안 수준. 채용공고 수집은 사이트 약관 확인 필요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아젠다 7 · 종합 토론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성과는 도구보다 회사 지식과 조직 설계가 좌우합니다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60350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320"/>
          <p:cNvSpPr/>
          <p:nvPr/>
        </p:nvSpPr>
        <p:spPr>
          <a:xfrm>
            <a:off x="6766560" y="1645920"/>
            <a:ext cx="4846320" cy="1874520"/>
          </a:xfrm>
          <a:prstGeom prst="roundRect">
            <a:avLst>
              <a:gd name="adj" fmla="val 5854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xt-321"/>
          <p:cNvSpPr txBox="1"/>
          <p:nvPr/>
        </p:nvSpPr>
        <p:spPr>
          <a:xfrm>
            <a:off x="7040880" y="18105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FD3D9"/>
                </a:solidFill>
              </a:rPr>
              <a:t>컴퍼니 브레인</a:t>
            </a:r>
            <a:endParaRPr lang="en-US" sz="1600" dirty="0"/>
          </a:p>
        </p:txBody>
      </p:sp>
      <p:sp>
        <p:nvSpPr>
          <p:cNvPr id="7" name="txt-322"/>
          <p:cNvSpPr txBox="1"/>
          <p:nvPr/>
        </p:nvSpPr>
        <p:spPr>
          <a:xfrm>
            <a:off x="7040880" y="22402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스킬 라이브러리(직원 노하우)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+ MCP 연결(시스템 데이터)</a:t>
            </a:r>
            <a:endParaRPr lang="en-US" sz="1700" dirty="0"/>
          </a:p>
        </p:txBody>
      </p:sp>
      <p:sp>
        <p:nvSpPr>
          <p:cNvPr id="8" name="txt-323"/>
          <p:cNvSpPr txBox="1"/>
          <p:nvPr/>
        </p:nvSpPr>
        <p:spPr>
          <a:xfrm>
            <a:off x="704088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2EF"/>
                </a:solidFill>
              </a:rPr>
              <a:t>외부 컨설턴트가 아니라 현업 리더가 만들어야 함</a:t>
            </a:r>
            <a:endParaRPr lang="en-US" sz="1250" dirty="0"/>
          </a:p>
        </p:txBody>
      </p:sp>
      <p:sp>
        <p:nvSpPr>
          <p:cNvPr id="9" name="card-324"/>
          <p:cNvSpPr/>
          <p:nvPr/>
        </p:nvSpPr>
        <p:spPr>
          <a:xfrm>
            <a:off x="6766560" y="3703320"/>
            <a:ext cx="2331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325"/>
          <p:cNvSpPr/>
          <p:nvPr/>
        </p:nvSpPr>
        <p:spPr>
          <a:xfrm>
            <a:off x="9281160" y="3703320"/>
            <a:ext cx="2331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xt-326"/>
          <p:cNvSpPr txBox="1"/>
          <p:nvPr/>
        </p:nvSpPr>
        <p:spPr>
          <a:xfrm>
            <a:off x="6949440" y="3840480"/>
            <a:ext cx="2011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95 : 5</a:t>
            </a:r>
            <a:endParaRPr lang="en-US" sz="30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AI가 95%를 만들어도 마지막 5%는 사람이 다듬어야 품질이 나옴</a:t>
            </a:r>
            <a:endParaRPr lang="en-US" sz="3000" dirty="0"/>
          </a:p>
        </p:txBody>
      </p:sp>
      <p:sp>
        <p:nvSpPr>
          <p:cNvPr id="12" name="txt-327"/>
          <p:cNvSpPr txBox="1"/>
          <p:nvPr/>
        </p:nvSpPr>
        <p:spPr>
          <a:xfrm>
            <a:off x="9464040" y="3840480"/>
            <a:ext cx="2011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0.1명</a:t>
            </a:r>
            <a:endParaRPr lang="en-US" sz="30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사람은 1명 단위, 에이전트는 0.1명 단위로 배치하는 하이브리드 조직</a:t>
            </a:r>
            <a:endParaRPr lang="en-US" sz="3000" dirty="0"/>
          </a:p>
        </p:txBody>
      </p:sp>
      <p:sp>
        <p:nvSpPr>
          <p:cNvPr id="13" name="txt-328"/>
          <p:cNvSpPr txBox="1"/>
          <p:nvPr/>
        </p:nvSpPr>
        <p:spPr>
          <a:xfrm>
            <a:off x="548640" y="48920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HR의 역할이 ‘사람 관리’에서 ‘사람+에이전트 관리’로 넓어지고, 에이전트 성능도 주기적으로 점검해야 함(강사 주장)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아젠다 8 · 당사 시사점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공개 데이터 업무부터 작게 시작해 검증합니다</a:t>
            </a:r>
            <a:endParaRPr lang="en-US" sz="3000" dirty="0"/>
          </a:p>
        </p:txBody>
      </p:sp>
      <p:sp>
        <p:nvSpPr>
          <p:cNvPr id="4" name="card-329"/>
          <p:cNvSpPr/>
          <p:nvPr/>
        </p:nvSpPr>
        <p:spPr>
          <a:xfrm>
            <a:off x="548640" y="164592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330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con-33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365760" cy="365760"/>
          </a:xfrm>
          <a:prstGeom prst="rect">
            <a:avLst/>
          </a:prstGeom>
        </p:spPr>
      </p:pic>
      <p:sp>
        <p:nvSpPr>
          <p:cNvPr id="7" name="txt-332"/>
          <p:cNvSpPr txBox="1"/>
          <p:nvPr/>
        </p:nvSpPr>
        <p:spPr>
          <a:xfrm>
            <a:off x="178308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공개 데이터 업무부터</a:t>
            </a:r>
            <a:endParaRPr lang="en-US" sz="1800" dirty="0"/>
          </a:p>
        </p:txBody>
      </p:sp>
      <p:sp>
        <p:nvSpPr>
          <p:cNvPr id="8" name="txt-333"/>
          <p:cNvSpPr txBox="1"/>
          <p:nvPr/>
        </p:nvSpPr>
        <p:spPr>
          <a:xfrm>
            <a:off x="1783080" y="23774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chemeClr val="accent6"/>
                </a:solidFill>
              </a:rPr>
              <a:t>경쟁 임상 동향 브리핑(ClinicalTrials.gov 등), 경쟁사 공시 모니터링(DART)처럼 환자 정보가 없는 반복 업무가 출발점으로 적합하다.</a:t>
            </a:r>
            <a:endParaRPr lang="en-US" sz="1350" dirty="0"/>
          </a:p>
        </p:txBody>
      </p:sp>
      <p:sp>
        <p:nvSpPr>
          <p:cNvPr id="9" name="card-334"/>
          <p:cNvSpPr/>
          <p:nvPr/>
        </p:nvSpPr>
        <p:spPr>
          <a:xfrm>
            <a:off x="6172200" y="164592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-335"/>
          <p:cNvSpPr/>
          <p:nvPr/>
        </p:nvSpPr>
        <p:spPr>
          <a:xfrm>
            <a:off x="6446520" y="192024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1" name="icon-33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03120"/>
            <a:ext cx="365760" cy="365760"/>
          </a:xfrm>
          <a:prstGeom prst="rect">
            <a:avLst/>
          </a:prstGeom>
        </p:spPr>
      </p:pic>
      <p:sp>
        <p:nvSpPr>
          <p:cNvPr id="12" name="txt-337"/>
          <p:cNvSpPr txBox="1"/>
          <p:nvPr/>
        </p:nvSpPr>
        <p:spPr>
          <a:xfrm>
            <a:off x="740664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SOP 문화는 강점</a:t>
            </a:r>
            <a:endParaRPr lang="en-US" sz="1800" dirty="0"/>
          </a:p>
        </p:txBody>
      </p:sp>
      <p:sp>
        <p:nvSpPr>
          <p:cNvPr id="13" name="txt-338"/>
          <p:cNvSpPr txBox="1"/>
          <p:nvPr/>
        </p:nvSpPr>
        <p:spPr>
          <a:xfrm>
            <a:off x="7406640" y="23774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chemeClr val="accent6"/>
                </a:solidFill>
              </a:rPr>
              <a:t>스킬은 절차·기준·금지 사항을 문서로 정한 것이라 제약사의 SOP 체계와 성격이 같다.</a:t>
            </a:r>
            <a:endParaRPr lang="en-US" sz="1350" dirty="0"/>
          </a:p>
        </p:txBody>
      </p:sp>
      <p:sp>
        <p:nvSpPr>
          <p:cNvPr id="14" name="card-339"/>
          <p:cNvSpPr/>
          <p:nvPr/>
        </p:nvSpPr>
        <p:spPr>
          <a:xfrm>
            <a:off x="548640" y="374904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sp>
        <p:nvSpPr>
          <p:cNvPr id="15" name="badge-340"/>
          <p:cNvSpPr/>
          <p:nvPr/>
        </p:nvSpPr>
        <p:spPr>
          <a:xfrm>
            <a:off x="822960" y="4023360"/>
            <a:ext cx="731520" cy="731520"/>
          </a:xfrm>
          <a:prstGeom prst="ellipse">
            <a:avLst/>
          </a:prstGeom>
          <a:solidFill>
            <a:srgbClr val="C2405A"/>
          </a:solidFill>
          <a:ln w="12700">
            <a:solidFill>
              <a:srgbClr val="C2405A"/>
            </a:solidFill>
            <a:prstDash val="solid"/>
          </a:ln>
        </p:spPr>
      </p:sp>
      <p:pic>
        <p:nvPicPr>
          <p:cNvPr id="16" name="icon-34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206240"/>
            <a:ext cx="365760" cy="365760"/>
          </a:xfrm>
          <a:prstGeom prst="rect">
            <a:avLst/>
          </a:prstGeom>
        </p:spPr>
      </p:pic>
      <p:sp>
        <p:nvSpPr>
          <p:cNvPr id="17" name="txt-342"/>
          <p:cNvSpPr txBox="1"/>
          <p:nvPr/>
        </p:nvSpPr>
        <p:spPr>
          <a:xfrm>
            <a:off x="1783080" y="4023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통제 규칙이 먼저</a:t>
            </a:r>
            <a:endParaRPr lang="en-US" sz="1800" dirty="0"/>
          </a:p>
        </p:txBody>
      </p:sp>
      <p:sp>
        <p:nvSpPr>
          <p:cNvPr id="18" name="txt-343"/>
          <p:cNvSpPr txBox="1"/>
          <p:nvPr/>
        </p:nvSpPr>
        <p:spPr>
          <a:xfrm>
            <a:off x="1783080" y="44805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chemeClr val="accent6"/>
                </a:solidFill>
              </a:rPr>
              <a:t>이상사례·환자 식별정보·미공개 임상 결과·영업비밀은 입력 금지. GxP 데이터 연결은 데이터 무결성과 전산 시스템 검증 이후로 미룬다.</a:t>
            </a:r>
            <a:endParaRPr lang="en-US" sz="1350" dirty="0"/>
          </a:p>
        </p:txBody>
      </p:sp>
      <p:sp>
        <p:nvSpPr>
          <p:cNvPr id="19" name="card-344"/>
          <p:cNvSpPr/>
          <p:nvPr/>
        </p:nvSpPr>
        <p:spPr>
          <a:xfrm>
            <a:off x="6172200" y="374904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-345"/>
          <p:cNvSpPr/>
          <p:nvPr/>
        </p:nvSpPr>
        <p:spPr>
          <a:xfrm>
            <a:off x="6446520" y="402336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1" name="icon-34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206240"/>
            <a:ext cx="365760" cy="365760"/>
          </a:xfrm>
          <a:prstGeom prst="rect">
            <a:avLst/>
          </a:prstGeom>
        </p:spPr>
      </p:pic>
      <p:sp>
        <p:nvSpPr>
          <p:cNvPr id="22" name="txt-347"/>
          <p:cNvSpPr txBox="1"/>
          <p:nvPr/>
        </p:nvSpPr>
        <p:spPr>
          <a:xfrm>
            <a:off x="7406640" y="4023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사람과 비용 관리</a:t>
            </a:r>
            <a:endParaRPr lang="en-US" sz="1800" dirty="0"/>
          </a:p>
        </p:txBody>
      </p:sp>
      <p:sp>
        <p:nvSpPr>
          <p:cNvPr id="23" name="txt-348"/>
          <p:cNvSpPr txBox="1"/>
          <p:nvPr/>
        </p:nvSpPr>
        <p:spPr>
          <a:xfrm>
            <a:off x="7406640" y="44805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chemeClr val="accent6"/>
                </a:solidFill>
              </a:rPr>
              <a:t>확산은 전문성과 책임감을 갖춘 리더부터 시작하고, 사용량 과금에 대비해 사용 한도를 정한다.</a:t>
            </a:r>
            <a:endParaRPr lang="en-US" sz="1350" dirty="0"/>
          </a:p>
        </p:txBody>
      </p:sp>
      <p:sp>
        <p:nvSpPr>
          <p:cNvPr id="24" name="txt-349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작성자 제안이며 확정 사항이 아님. 제약 규제 판단은 교육 범위 밖으로 준법·품질 부서 확인 필요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아젠다 8 · 후속 조치(안)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가이드를 먼저 세우고, 파일럿 2건으로 효과를 측정합니다</a:t>
            </a:r>
            <a:endParaRPr lang="en-US" sz="3000" dirty="0"/>
          </a:p>
        </p:txBody>
      </p:sp>
      <p:sp>
        <p:nvSpPr>
          <p:cNvPr id="4" name="line-350"/>
          <p:cNvSpPr/>
          <p:nvPr/>
        </p:nvSpPr>
        <p:spPr>
          <a:xfrm>
            <a:off x="822960" y="2212848"/>
            <a:ext cx="10515600" cy="0"/>
          </a:xfrm>
          <a:prstGeom prst="line">
            <a:avLst/>
          </a:prstGeom>
          <a:noFill/>
          <a:ln w="25400">
            <a:solidFill>
              <a:srgbClr val="B9C4D0"/>
            </a:solidFill>
            <a:prstDash val="solid"/>
          </a:ln>
        </p:spPr>
      </p:sp>
      <p:sp>
        <p:nvSpPr>
          <p:cNvPr id="5" name="num-351"/>
          <p:cNvSpPr/>
          <p:nvPr/>
        </p:nvSpPr>
        <p:spPr>
          <a:xfrm>
            <a:off x="640080" y="1938528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xt-352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xt-353"/>
          <p:cNvSpPr txBox="1"/>
          <p:nvPr/>
        </p:nvSpPr>
        <p:spPr>
          <a:xfrm>
            <a:off x="1325880" y="2029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보고 후 1개월</a:t>
            </a:r>
            <a:endParaRPr lang="en-US" sz="1250" dirty="0"/>
          </a:p>
        </p:txBody>
      </p:sp>
      <p:sp>
        <p:nvSpPr>
          <p:cNvPr id="8" name="card-354"/>
          <p:cNvSpPr/>
          <p:nvPr/>
        </p:nvSpPr>
        <p:spPr>
          <a:xfrm>
            <a:off x="548640" y="269748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xt-355"/>
          <p:cNvSpPr txBox="1"/>
          <p:nvPr/>
        </p:nvSpPr>
        <p:spPr>
          <a:xfrm>
            <a:off x="77724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사용·보안 가이드</a:t>
            </a:r>
            <a:endParaRPr lang="en-US" sz="1800" dirty="0"/>
          </a:p>
        </p:txBody>
      </p:sp>
      <p:sp>
        <p:nvSpPr>
          <p:cNvPr id="10" name="txt-356"/>
          <p:cNvSpPr txBox="1"/>
          <p:nvPr/>
        </p:nvSpPr>
        <p:spPr>
          <a:xfrm>
            <a:off x="777240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계정, 입력 금지 데이터, 공유 통제, 사용 한도</a:t>
            </a:r>
            <a:endParaRPr lang="en-US" sz="1400" dirty="0"/>
          </a:p>
        </p:txBody>
      </p:sp>
      <p:sp>
        <p:nvSpPr>
          <p:cNvPr id="11" name="txt-357"/>
          <p:cNvSpPr txBox="1"/>
          <p:nvPr/>
        </p:nvSpPr>
        <p:spPr>
          <a:xfrm>
            <a:off x="777240" y="4754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경영지원·IT(관계사 협의)</a:t>
            </a:r>
            <a:endParaRPr lang="en-US" sz="1250" dirty="0"/>
          </a:p>
        </p:txBody>
      </p:sp>
      <p:sp>
        <p:nvSpPr>
          <p:cNvPr id="12" name="num-358"/>
          <p:cNvSpPr/>
          <p:nvPr/>
        </p:nvSpPr>
        <p:spPr>
          <a:xfrm>
            <a:off x="3456432" y="1938528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xt-359"/>
          <p:cNvSpPr txBox="1"/>
          <p:nvPr/>
        </p:nvSpPr>
        <p:spPr>
          <a:xfrm>
            <a:off x="3456432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xt-360"/>
          <p:cNvSpPr txBox="1"/>
          <p:nvPr/>
        </p:nvSpPr>
        <p:spPr>
          <a:xfrm>
            <a:off x="4142232" y="2029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가이드 승인 후</a:t>
            </a:r>
            <a:endParaRPr lang="en-US" sz="1250" dirty="0"/>
          </a:p>
        </p:txBody>
      </p:sp>
      <p:sp>
        <p:nvSpPr>
          <p:cNvPr id="15" name="card-361"/>
          <p:cNvSpPr/>
          <p:nvPr/>
        </p:nvSpPr>
        <p:spPr>
          <a:xfrm>
            <a:off x="3364992" y="269748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xt-362"/>
          <p:cNvSpPr txBox="1"/>
          <p:nvPr/>
        </p:nvSpPr>
        <p:spPr>
          <a:xfrm>
            <a:off x="3593592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파일럿 1</a:t>
            </a:r>
            <a:endParaRPr lang="en-US" sz="1800" dirty="0"/>
          </a:p>
        </p:txBody>
      </p:sp>
      <p:sp>
        <p:nvSpPr>
          <p:cNvPr id="17" name="txt-363"/>
          <p:cNvSpPr txBox="1"/>
          <p:nvPr/>
        </p:nvSpPr>
        <p:spPr>
          <a:xfrm>
            <a:off x="3593592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경쟁 임상 동향 주간 브리핑 스킬</a:t>
            </a:r>
            <a:endParaRPr lang="en-US" sz="1400" dirty="0"/>
          </a:p>
        </p:txBody>
      </p:sp>
      <p:sp>
        <p:nvSpPr>
          <p:cNvPr id="18" name="txt-364"/>
          <p:cNvSpPr txBox="1"/>
          <p:nvPr/>
        </p:nvSpPr>
        <p:spPr>
          <a:xfrm>
            <a:off x="3593592" y="4754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임상의학본부</a:t>
            </a:r>
            <a:endParaRPr lang="en-US" sz="1250" dirty="0"/>
          </a:p>
        </p:txBody>
      </p:sp>
      <p:sp>
        <p:nvSpPr>
          <p:cNvPr id="19" name="num-365"/>
          <p:cNvSpPr/>
          <p:nvPr/>
        </p:nvSpPr>
        <p:spPr>
          <a:xfrm>
            <a:off x="6272784" y="1938528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xt-366"/>
          <p:cNvSpPr txBox="1"/>
          <p:nvPr/>
        </p:nvSpPr>
        <p:spPr>
          <a:xfrm>
            <a:off x="6272784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xt-367"/>
          <p:cNvSpPr txBox="1"/>
          <p:nvPr/>
        </p:nvSpPr>
        <p:spPr>
          <a:xfrm>
            <a:off x="6958584" y="2029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가이드 승인 후</a:t>
            </a:r>
            <a:endParaRPr lang="en-US" sz="1250" dirty="0"/>
          </a:p>
        </p:txBody>
      </p:sp>
      <p:sp>
        <p:nvSpPr>
          <p:cNvPr id="22" name="card-368"/>
          <p:cNvSpPr/>
          <p:nvPr/>
        </p:nvSpPr>
        <p:spPr>
          <a:xfrm>
            <a:off x="6181344" y="269748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xt-369"/>
          <p:cNvSpPr txBox="1"/>
          <p:nvPr/>
        </p:nvSpPr>
        <p:spPr>
          <a:xfrm>
            <a:off x="6409944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파일럿 2</a:t>
            </a:r>
            <a:endParaRPr lang="en-US" sz="1800" dirty="0"/>
          </a:p>
        </p:txBody>
      </p:sp>
      <p:sp>
        <p:nvSpPr>
          <p:cNvPr id="24" name="txt-370"/>
          <p:cNvSpPr txBox="1"/>
          <p:nvPr/>
        </p:nvSpPr>
        <p:spPr>
          <a:xfrm>
            <a:off x="6409944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경쟁사 공시·채용 시장 모니터링 스킬</a:t>
            </a:r>
            <a:endParaRPr lang="en-US" sz="1400" dirty="0"/>
          </a:p>
        </p:txBody>
      </p:sp>
      <p:sp>
        <p:nvSpPr>
          <p:cNvPr id="25" name="txt-371"/>
          <p:cNvSpPr txBox="1"/>
          <p:nvPr/>
        </p:nvSpPr>
        <p:spPr>
          <a:xfrm>
            <a:off x="6409944" y="4754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경영지원본부</a:t>
            </a:r>
            <a:endParaRPr lang="en-US" sz="1250" dirty="0"/>
          </a:p>
        </p:txBody>
      </p:sp>
      <p:sp>
        <p:nvSpPr>
          <p:cNvPr id="26" name="num-372"/>
          <p:cNvSpPr/>
          <p:nvPr/>
        </p:nvSpPr>
        <p:spPr>
          <a:xfrm>
            <a:off x="9089136" y="1938528"/>
            <a:ext cx="548640" cy="548640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27" name="txt-373"/>
          <p:cNvSpPr txBox="1"/>
          <p:nvPr/>
        </p:nvSpPr>
        <p:spPr>
          <a:xfrm>
            <a:off x="9089136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txt-374"/>
          <p:cNvSpPr txBox="1"/>
          <p:nvPr/>
        </p:nvSpPr>
        <p:spPr>
          <a:xfrm>
            <a:off x="9774936" y="2029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파일럿 종료 시</a:t>
            </a:r>
            <a:endParaRPr lang="en-US" sz="1250" dirty="0"/>
          </a:p>
        </p:txBody>
      </p:sp>
      <p:sp>
        <p:nvSpPr>
          <p:cNvPr id="29" name="card-375"/>
          <p:cNvSpPr/>
          <p:nvPr/>
        </p:nvSpPr>
        <p:spPr>
          <a:xfrm>
            <a:off x="8997696" y="269748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xt-376"/>
          <p:cNvSpPr txBox="1"/>
          <p:nvPr/>
        </p:nvSpPr>
        <p:spPr>
          <a:xfrm>
            <a:off x="9226296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결과 보고</a:t>
            </a:r>
            <a:endParaRPr lang="en-US" sz="1800" dirty="0"/>
          </a:p>
        </p:txBody>
      </p:sp>
      <p:sp>
        <p:nvSpPr>
          <p:cNvPr id="31" name="txt-377"/>
          <p:cNvSpPr txBox="1"/>
          <p:nvPr/>
        </p:nvSpPr>
        <p:spPr>
          <a:xfrm>
            <a:off x="9226296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소요 시간·정확도·비용 측정, 확대 여부 결정</a:t>
            </a:r>
            <a:endParaRPr lang="en-US" sz="1400" dirty="0"/>
          </a:p>
        </p:txBody>
      </p:sp>
      <p:sp>
        <p:nvSpPr>
          <p:cNvPr id="32" name="txt-378"/>
          <p:cNvSpPr txBox="1"/>
          <p:nvPr/>
        </p:nvSpPr>
        <p:spPr>
          <a:xfrm>
            <a:off x="9226296" y="4754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두 본부 공동</a:t>
            </a:r>
            <a:endParaRPr lang="en-US" sz="1250" dirty="0"/>
          </a:p>
        </p:txBody>
      </p:sp>
      <p:sp>
        <p:nvSpPr>
          <p:cNvPr id="33" name="card-379"/>
          <p:cNvSpPr/>
          <p:nvPr/>
        </p:nvSpPr>
        <p:spPr>
          <a:xfrm>
            <a:off x="548640" y="5577840"/>
            <a:ext cx="11064240" cy="457200"/>
          </a:xfrm>
          <a:prstGeom prst="roundRect">
            <a:avLst>
              <a:gd name="adj" fmla="val 24000"/>
            </a:avLst>
          </a:prstGeom>
          <a:solidFill>
            <a:srgbClr val="E2F2F3"/>
          </a:solidFill>
          <a:ln w="12700">
            <a:solidFill>
              <a:srgbClr val="E2F2F3"/>
            </a:solidFill>
            <a:prstDash val="solid"/>
          </a:ln>
        </p:spPr>
      </p:sp>
      <p:sp>
        <p:nvSpPr>
          <p:cNvPr id="34" name="txt-380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함께 검토: 임원 대상 확대 교육(경영지원본부, 보고 후 1개월)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부록 · 용어 풀이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처음 보는 용어, 한 줄로</a:t>
            </a:r>
            <a:endParaRPr lang="en-US" sz="3000" dirty="0"/>
          </a:p>
        </p:txBody>
      </p:sp>
      <p:sp>
        <p:nvSpPr>
          <p:cNvPr id="4" name="card-381"/>
          <p:cNvSpPr/>
          <p:nvPr/>
        </p:nvSpPr>
        <p:spPr>
          <a:xfrm>
            <a:off x="548640" y="160020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xt-382"/>
          <p:cNvSpPr txBox="1"/>
          <p:nvPr/>
        </p:nvSpPr>
        <p:spPr>
          <a:xfrm>
            <a:off x="822960" y="16002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에이전트</a:t>
            </a:r>
            <a:endParaRPr lang="en-US" sz="1600" dirty="0"/>
          </a:p>
        </p:txBody>
      </p:sp>
      <p:sp>
        <p:nvSpPr>
          <p:cNvPr id="6" name="txt-383"/>
          <p:cNvSpPr txBox="1"/>
          <p:nvPr/>
        </p:nvSpPr>
        <p:spPr>
          <a:xfrm>
            <a:off x="2560320" y="16002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목표를 받아 여러 단계의 일을 스스로 수행하는 AI</a:t>
            </a:r>
            <a:endParaRPr lang="en-US" sz="1350" dirty="0"/>
          </a:p>
        </p:txBody>
      </p:sp>
      <p:sp>
        <p:nvSpPr>
          <p:cNvPr id="7" name="card-384"/>
          <p:cNvSpPr/>
          <p:nvPr/>
        </p:nvSpPr>
        <p:spPr>
          <a:xfrm>
            <a:off x="6172200" y="160020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xt-385"/>
          <p:cNvSpPr txBox="1"/>
          <p:nvPr/>
        </p:nvSpPr>
        <p:spPr>
          <a:xfrm>
            <a:off x="6446520" y="16002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페르소나</a:t>
            </a:r>
            <a:endParaRPr lang="en-US" sz="1600" dirty="0"/>
          </a:p>
        </p:txBody>
      </p:sp>
      <p:sp>
        <p:nvSpPr>
          <p:cNvPr id="9" name="txt-386"/>
          <p:cNvSpPr txBox="1"/>
          <p:nvPr/>
        </p:nvSpPr>
        <p:spPr>
          <a:xfrm>
            <a:off x="8183880" y="16002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AI에게 부여한 역할(예: 비판가, 전문가). 권한을 주면 에이전트가 됨</a:t>
            </a:r>
            <a:endParaRPr lang="en-US" sz="1350" dirty="0"/>
          </a:p>
        </p:txBody>
      </p:sp>
      <p:sp>
        <p:nvSpPr>
          <p:cNvPr id="10" name="card-387"/>
          <p:cNvSpPr/>
          <p:nvPr/>
        </p:nvSpPr>
        <p:spPr>
          <a:xfrm>
            <a:off x="548640" y="269748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xt-388"/>
          <p:cNvSpPr txBox="1"/>
          <p:nvPr/>
        </p:nvSpPr>
        <p:spPr>
          <a:xfrm>
            <a:off x="822960" y="26974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스킬</a:t>
            </a:r>
            <a:endParaRPr lang="en-US" sz="1600" dirty="0"/>
          </a:p>
        </p:txBody>
      </p:sp>
      <p:sp>
        <p:nvSpPr>
          <p:cNvPr id="12" name="txt-389"/>
          <p:cNvSpPr txBox="1"/>
          <p:nvPr/>
        </p:nvSpPr>
        <p:spPr>
          <a:xfrm>
            <a:off x="2560320" y="26974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반복 업무의 절차·기준을 적은 파일(SKILL.md). AI용 업무 매뉴얼</a:t>
            </a:r>
            <a:endParaRPr lang="en-US" sz="1350" dirty="0"/>
          </a:p>
        </p:txBody>
      </p:sp>
      <p:sp>
        <p:nvSpPr>
          <p:cNvPr id="13" name="card-390"/>
          <p:cNvSpPr/>
          <p:nvPr/>
        </p:nvSpPr>
        <p:spPr>
          <a:xfrm>
            <a:off x="6172200" y="269748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xt-391"/>
          <p:cNvSpPr txBox="1"/>
          <p:nvPr/>
        </p:nvSpPr>
        <p:spPr>
          <a:xfrm>
            <a:off x="6446520" y="26974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MCP</a:t>
            </a:r>
            <a:endParaRPr lang="en-US" sz="1600" dirty="0"/>
          </a:p>
        </p:txBody>
      </p:sp>
      <p:sp>
        <p:nvSpPr>
          <p:cNvPr id="15" name="txt-392"/>
          <p:cNvSpPr txBox="1"/>
          <p:nvPr/>
        </p:nvSpPr>
        <p:spPr>
          <a:xfrm>
            <a:off x="8183880" y="26974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AI와 외부 시스템을 잇는 표준 연결 규격(Model Context Protocol)</a:t>
            </a:r>
            <a:endParaRPr lang="en-US" sz="1350" dirty="0"/>
          </a:p>
        </p:txBody>
      </p:sp>
      <p:sp>
        <p:nvSpPr>
          <p:cNvPr id="16" name="card-393"/>
          <p:cNvSpPr/>
          <p:nvPr/>
        </p:nvSpPr>
        <p:spPr>
          <a:xfrm>
            <a:off x="548640" y="379476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xt-394"/>
          <p:cNvSpPr txBox="1"/>
          <p:nvPr/>
        </p:nvSpPr>
        <p:spPr>
          <a:xfrm>
            <a:off x="822960" y="379476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/goal</a:t>
            </a:r>
            <a:endParaRPr lang="en-US" sz="1600" dirty="0"/>
          </a:p>
        </p:txBody>
      </p:sp>
      <p:sp>
        <p:nvSpPr>
          <p:cNvPr id="18" name="txt-395"/>
          <p:cNvSpPr txBox="1"/>
          <p:nvPr/>
        </p:nvSpPr>
        <p:spPr>
          <a:xfrm>
            <a:off x="2560320" y="37947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목표와 완료 조건을 고정해 달성할 때까지 반복 실행시키는 명령</a:t>
            </a:r>
            <a:endParaRPr lang="en-US" sz="1350" dirty="0"/>
          </a:p>
        </p:txBody>
      </p:sp>
      <p:sp>
        <p:nvSpPr>
          <p:cNvPr id="19" name="card-396"/>
          <p:cNvSpPr/>
          <p:nvPr/>
        </p:nvSpPr>
        <p:spPr>
          <a:xfrm>
            <a:off x="6172200" y="379476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xt-397"/>
          <p:cNvSpPr txBox="1"/>
          <p:nvPr/>
        </p:nvSpPr>
        <p:spPr>
          <a:xfrm>
            <a:off x="6446520" y="379476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다이나믹 워크플로우</a:t>
            </a:r>
            <a:endParaRPr lang="en-US" sz="1600" dirty="0"/>
          </a:p>
        </p:txBody>
      </p:sp>
      <p:sp>
        <p:nvSpPr>
          <p:cNvPr id="21" name="txt-398"/>
          <p:cNvSpPr txBox="1"/>
          <p:nvPr/>
        </p:nvSpPr>
        <p:spPr>
          <a:xfrm>
            <a:off x="8183880" y="37947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여러 AI의 작업 순서와 검증 방식을 AI가 스스로 설계하는 방식</a:t>
            </a:r>
            <a:endParaRPr lang="en-US" sz="1350" dirty="0"/>
          </a:p>
        </p:txBody>
      </p:sp>
      <p:sp>
        <p:nvSpPr>
          <p:cNvPr id="22" name="card-399"/>
          <p:cNvSpPr/>
          <p:nvPr/>
        </p:nvSpPr>
        <p:spPr>
          <a:xfrm>
            <a:off x="548640" y="489204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xt-400"/>
          <p:cNvSpPr txBox="1"/>
          <p:nvPr/>
        </p:nvSpPr>
        <p:spPr>
          <a:xfrm>
            <a:off x="822960" y="48920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컴퍼니 브레인</a:t>
            </a:r>
            <a:endParaRPr lang="en-US" sz="1600" dirty="0"/>
          </a:p>
        </p:txBody>
      </p:sp>
      <p:sp>
        <p:nvSpPr>
          <p:cNvPr id="24" name="txt-401"/>
          <p:cNvSpPr txBox="1"/>
          <p:nvPr/>
        </p:nvSpPr>
        <p:spPr>
          <a:xfrm>
            <a:off x="2560320" y="48920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스킬(노하우)과 시스템 데이터를 합친, AI가 읽을 수 있는 회사 지식</a:t>
            </a:r>
            <a:endParaRPr lang="en-US" sz="1350" dirty="0"/>
          </a:p>
        </p:txBody>
      </p:sp>
      <p:sp>
        <p:nvSpPr>
          <p:cNvPr id="25" name="card-402"/>
          <p:cNvSpPr/>
          <p:nvPr/>
        </p:nvSpPr>
        <p:spPr>
          <a:xfrm>
            <a:off x="6172200" y="489204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xt-403"/>
          <p:cNvSpPr txBox="1"/>
          <p:nvPr/>
        </p:nvSpPr>
        <p:spPr>
          <a:xfrm>
            <a:off x="6446520" y="48920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GxP·CSV</a:t>
            </a:r>
            <a:endParaRPr lang="en-US" sz="1600" dirty="0"/>
          </a:p>
        </p:txBody>
      </p:sp>
      <p:sp>
        <p:nvSpPr>
          <p:cNvPr id="27" name="txt-404"/>
          <p:cNvSpPr txBox="1"/>
          <p:nvPr/>
        </p:nvSpPr>
        <p:spPr>
          <a:xfrm>
            <a:off x="8183880" y="48920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의약품 품질 관련 규정과 전산 시스템 검증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405"/>
          <p:cNvSpPr/>
          <p:nvPr/>
        </p:nvSpPr>
        <p:spPr>
          <a:xfrm>
            <a:off x="731520" y="91440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con-40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365760" cy="365760"/>
          </a:xfrm>
          <a:prstGeom prst="rect">
            <a:avLst/>
          </a:prstGeom>
        </p:spPr>
      </p:pic>
      <p:sp>
        <p:nvSpPr>
          <p:cNvPr id="4" name="txt-407"/>
          <p:cNvSpPr txBox="1"/>
          <p:nvPr/>
        </p:nvSpPr>
        <p:spPr>
          <a:xfrm>
            <a:off x="731520" y="1828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참고 및 한계</a:t>
            </a:r>
            <a:endParaRPr lang="en-US" sz="3200" dirty="0"/>
          </a:p>
        </p:txBody>
      </p:sp>
      <p:sp>
        <p:nvSpPr>
          <p:cNvPr id="5" name="txt-408"/>
          <p:cNvSpPr txBox="1"/>
          <p:nvPr/>
        </p:nvSpPr>
        <p:spPr>
          <a:xfrm>
            <a:off x="731520" y="2651760"/>
            <a:ext cx="10607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6E2EF"/>
                </a:solidFill>
              </a:rPr>
              <a:t>녹음이 없는 구간: 1일차 약 14:54~15:50(웹앱 만들기·디자인 실습으로 추정), 2일차 약 13:57~16:07(DART 연결·크롬 제어 실습으로 추정). 이 구간은 반영하지 못함.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6E2EF"/>
                </a:solidFill>
              </a:rPr>
              <a:t>녹음은 화자를 번호로만 표기하므로 과제 발표 외 일부 발언은 맥락으로 화자를 추정함.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6E2EF"/>
                </a:solidFill>
              </a:rPr>
              <a:t>소요 시간은 교육용 데이터 기준이며 일부는 강사가 말한 시간임. 결과물은 시안 수준.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6E2EF"/>
                </a:solidFill>
              </a:rPr>
              <a:t>강사가 언급한 업계 동향(기업가치, 신모델, 해외 기업 사례 등)은 사실 확인을 하지 않아 본 회의록에서 제외함.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eil Agent">
  <a:themeElements>
    <a:clrScheme name="Jeil Agent">
      <a:dk1>
        <a:srgbClr val="14202E"/>
      </a:dk1>
      <a:lt1>
        <a:srgbClr val="FFFFFF"/>
      </a:lt1>
      <a:dk2>
        <a:srgbClr val="1B3A5C"/>
      </a:dk2>
      <a:lt2>
        <a:srgbClr val="F1F5F8"/>
      </a:lt2>
      <a:accent1>
        <a:srgbClr val="0E7C86"/>
      </a:accent1>
      <a:accent2>
        <a:srgbClr val="E39B2D"/>
      </a:accent2>
      <a:accent3>
        <a:srgbClr val="C2405A"/>
      </a:accent3>
      <a:accent4>
        <a:srgbClr val="6B5BD6"/>
      </a:accent4>
      <a:accent5>
        <a:srgbClr val="2F7FD0"/>
      </a:accent5>
      <a:accent6>
        <a:srgbClr val="5A6472"/>
      </a:accent6>
      <a:hlink>
        <a:srgbClr val="0E7C86"/>
      </a:hlink>
      <a:folHlink>
        <a:srgbClr val="5A6472"/>
      </a:folHlink>
    </a:clrScheme>
    <a:fontScheme name="Jeil Agent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에이전트 경영 교육 회의록</dc:title>
  <dc:subject>AI 에이전트 경영 교육</dc:subject>
  <dc:creator>조민희 임상의학본부장</dc:creator>
  <cp:lastModifiedBy>조민희 임상의학본부장</cp:lastModifiedBy>
  <cp:revision>1</cp:revision>
  <dcterms:created xsi:type="dcterms:W3CDTF">2026-10-13T06:07:41Z</dcterms:created>
  <dcterms:modified xsi:type="dcterms:W3CDTF">2026-10-13T06:07:41Z</dcterms:modified>
</cp:coreProperties>
</file>
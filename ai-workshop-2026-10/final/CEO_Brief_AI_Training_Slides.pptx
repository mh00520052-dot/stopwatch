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김현수 본부장과 함께 이틀간 강의와 노트북 실습으로 AI 활용을 단순 채팅부터 자율 반복 실행까지 직접 해 봤습니다. 오늘은 배운 내용을 중심으로 보고드리고, 마지막에 결정해 주실 사항 세 가지를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크게 느낀 점은 AI를 잘 쓰는 것이 개인 기술보다 일을 맡기는 구조의 문제라는 것입니다. 실습 결과물은 빠르게 나왔지만 시안 수준이었으므로, 우리 업무에서의 품질과 효과는 작은 파일럿으로 확인하겠습니다.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강사는 대부분의 사용자가 단순 채팅 수준에 머물러 있다고 진단했습니다. 교육에서는 이 다섯 단계를 모두 직접 해 봤습니다. 단계가 올라갈수록 AI에 주는 권한이 커지므로 통제도 함께 커져야 한다는 점을 배웠습니다.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문장을 잘 다듬는 프롬프트가 아니라, 신입을 채용해 업무를 맡기듯 여섯 가지를 정해 줍니다. 특히 평가 기준을 숫자로 주는 것과 금지 사항을 명시하는 것이 핵심이었습니다. 우리 회사의 업무 지시서나 SOP와 거의 같은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교육에서 가장 인상적인 장면이었습니다. 한 번 지시하면 다섯 명의 가상 팀이 쓰고 평가하고 고치기를 반복합니다. 다만 강사 본인도 대화창에서는 세 번 정도 하고 멈춘다고 했고, 같은 AI끼리는 모르는 것도 같으므로 정확성은 원자료 대조와 사람의 확인으로 따로 챙겨야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2일차의 핵심으로, 앞 장의 '세 번 하고 멈추는' 한계에 대한 처방입니다. 10분 제한으로 실행해 시안 수준의 결과물이 나왔습니다(한 참석자 10분 20초). 실제 업무 품질은 공개 데이터 과제로 먼저 확인하겠습니다.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스킬은 한 사람의 일하는 방식을 파일로 남긴 것이어서, 쌓이면 회사 자산이 됩니다. 저와 김현수 본부장도 각자 하나씩 만들어 발표했는데, 제 것은 조건을 완전히 충족하지 못해 더 다듬어야 했습니다. 노하우가 담기는 만큼 유출 관리도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해 봤거나 눈앞에서 본 결과이며, 일부 시간은 강사가 말한 수치입니다. 교육용 데이터였으므로 우리 업무에서 실제로 얼마나 줄어드는지는 파일럿에서 현재 소요 시간과 비교해 측정하겠습니다.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강사는 어떤 모델을 쓸지보다 누구에게 권한을 주고 사람과 AI를 어떻게 섞을지가 승부처라고 주장했습니다. 검증된 근거는 아니지만, 책임감 있는 시니어부터 시작하자는 점은 우리 회사 현실에도 맞다고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강사가 교육에서 권고한 내용이고, 오른쪽은 제약사 특성을 반영해 제가 덧붙인 원칙입니다. 대화 기록이 소송에서 공개될 수 있다는 점 때문에 로그 기준도 가이드에 넣되, 소송·조사 시에는 보존을 우선하도록 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환자 정보와 미공개 데이터가 없는 공개 데이터 업무로 시작하면 규제 부담이 작은 상태에서 효과를 확인할 수 있습니다. 경영지원본부 과제는 김현수 본부장이 실습에서 만든 스킬을 발전시키는 안입니다. 임상 운영 데이터는 데이터 무결성과 개인정보 검토를 마친 뒤 다루겠습니다.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모두 큰 예산보다 방향과 책임 부서를 정해 주시는 결정입니다. 승인해 주시면 1개월 안에 가이드 초안과 파일럿 정의서를, 3개월 시점에 측정 결과를 보고드리겠습니다.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제일약품 임상의학본부 · 사장님 보고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D3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IGM 에이전트 경영 교육 결과 보고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'팀원'으로 쓰는 법을 배우고 왔습니다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6E2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 IGM '에이전트 경영' Claude 실습 워크숍, 2026.10.2·10.8(녹음 시각 기준 약 10시간)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6E2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보고·참석  조민희 임상의학본부장(보고), 김현수 제일파마홀딩스 경영지원본부장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6E2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 교육 핵심 8장(실습 결과 포함) → 적용 단계 → 결정 요청 3건 / 별첨: 세션별 요약·미검증 발언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요약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핵심은 도구가 아니라 '일 맡기는 구조'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5680" cy="4343400"/>
          </a:xfrm>
          <a:prstGeom prst="roundRect">
            <a:avLst>
              <a:gd name="adj" fmla="val 31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것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2987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역할·평가 기준·권한을 정해 맡기고 합격선까지 반복. 교육용 데이터로 수 분 만에 시안 수준 결과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12920" y="1691640"/>
            <a:ext cx="3535680" cy="4343400"/>
          </a:xfrm>
          <a:prstGeom prst="roundRect">
            <a:avLst>
              <a:gd name="adj" fmla="val 31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724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587240" y="27889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회사에 주는 의미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87240" y="3794760"/>
            <a:ext cx="2987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성과는 노하우 문서화(스킬)와 통제 규칙이 좌우. 실무 품질·절감 효과는 파일럿 검증 필요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77200" y="1691640"/>
            <a:ext cx="3535680" cy="4343400"/>
          </a:xfrm>
          <a:prstGeom prst="roundRect">
            <a:avLst>
              <a:gd name="adj" fmla="val 310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152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7FD3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351520" y="27889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요청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51520" y="3794760"/>
            <a:ext cx="2987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6E2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 파일럿 착수, AI 사용·보안 가이드 주관 지정, 임원 확대 교육 검토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핵심 ① 전체 지도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너머 5단계: 소환에서 자율 반복까지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소환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1618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역할의 AI를 한 번에 불러 토론·평가(예: 5컬러)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07208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5808" y="19659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3580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274320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035808" y="3703320"/>
            <a:ext cx="1618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MCP로 사내외 시스템·데이터에 접근 권한 부여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65776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94376" y="19659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9437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94376" y="274320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94376" y="3703320"/>
            <a:ext cx="1618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업무를 스킬(업무 절차서 파일)로 규격화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24344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52944" y="19659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5294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552944" y="274320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552944" y="3703320"/>
            <a:ext cx="1618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AI가 역할을 나눠 동시에 작업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82912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11512" y="19659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1151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811512" y="274320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 반복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811512" y="3703320"/>
            <a:ext cx="1618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/goal로 목표 달성 때까지 스스로 반복 실행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70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MCP: AI와 사내외 시스템을 잇는 연결 규격. /goal: 목표와 완료 조건을 고정하는 명령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핵심 ② 일 맡기기 6요소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일 맡기기는 '채용'과 같습니다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+ 평가 기준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누구로서 일하는지, 몇 점이면 합격인지 숫자로 정함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12920" y="1691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7240" y="1920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컨텍스트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87240" y="2468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자료와 사내 기준 등 판단에 필요한 정보 제공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7200" y="1691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1520" y="1920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도구(권한)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51520" y="2468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수 있는 시스템·폴더와 권한·사용 한도를 명시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06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워크플로우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54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순서와 승인 단계(검토 통과 후 반영 등)를 지정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12920" y="3977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87240" y="4206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가드레일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87240" y="4754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 사항 명시. 목표만 주고 금지 사항이 없으면 편법 위험(강사)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26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메시지: '똑똑한 팀원을 마이크로매니징하지 말고, 채용하듯 역할과 기준을 주라'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핵심 ③ 5컬러 반복 평가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1명이 쓰고 4명이 평가, 합격선까지 반복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작성(Black)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1618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 역할로 초안 작성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07208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5808" y="19659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3580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274320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비판(Red)부터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035808" y="3703320"/>
            <a:ext cx="1618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약점부터 지적. 먼저 엄격하면 뒤 평가도 엄격해짐(강사 경험칙)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65776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94376" y="19659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9437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94376" y="274320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검증·옹호(Silver·Blue)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94376" y="3703320"/>
            <a:ext cx="1618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관점 검증과 강점 보존으로 균형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24344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52944" y="19659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5294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552944" y="274320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독자(Gold)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552944" y="3703320"/>
            <a:ext cx="1618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의사결정자 관점에서 최종 평가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82912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11512" y="196596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1151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811512" y="274320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9.5점까지 반복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811512" y="3703320"/>
            <a:ext cx="1618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미달이면 수정·재평가. 대화창에서는 몇 라운드 만에 멈추기도 함(강사) → /goal로 보완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70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시연: 1라운드 미달 → 4라운드 9.6점 통과. 2일차에는 "세 번 만에 끊는다"고 언급해 반복 횟수는 일정하지 않음. 같은 모델끼리의 자기 평가라 정확성 검증을 대신하지 못함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핵심 ④ /goal과 생성·검증 분리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/goal로 목표를 고정하면 끝까지 반복합니다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3가지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대화에서 중간 타협(게으름), 자기 결과 과대평가, 앞의 목표 망각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12920" y="1691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7240" y="1920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1: /goal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87240" y="2468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목표·완료 조건을 고정하고 달성할 때까지 AI가 반복 실행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7200" y="1691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1520" y="1920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2: 생성·검증 분리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51520" y="2468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AI와 점검하는 AI를 나눠 서로 확인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06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순서도 AI가 설계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54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AI가 나눠 작업하고 서로 검증하는 순서까지 AI가 설계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12920" y="3977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87240" y="4206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결과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87240" y="4754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 제한으로 백과사전 웹 문서 시안 완성(한 참석자 10분 20초)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26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결과물은 시안 수준. 강사 시연은 10분을 넘겨 수동 중단 후 완성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핵심 ⑤ 스킬·MCP·컴퍼니 브레인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스킬은 직원 노하우를 담은 회사 자산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782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960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9606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업무를 6요소로 적은 업무 절차서 파일. 강사 비유는 '업무 계약서'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5060" y="1691640"/>
            <a:ext cx="541782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9380" y="1920240"/>
            <a:ext cx="4960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69380" y="2468880"/>
            <a:ext cx="49606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AI와 사내외 시스템을 잇는 연결 표준('USB-C' 비유). 접근 권한은 IT가 관리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41782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06240"/>
            <a:ext cx="4960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컴퍼니 브레인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54880"/>
            <a:ext cx="49606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라이브러리(노하우) + MCP 연결(시스템 데이터) = AI가 읽는 사내 지식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5060" y="3977640"/>
            <a:ext cx="541782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9380" y="4206240"/>
            <a:ext cx="4960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원칙(강사)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69380" y="4754880"/>
            <a:ext cx="49606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전용 보관·다운로드 기록. 컨설턴트가 아닌 현업 리더가 만들어야 함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26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MCP는 2024년 11월 Anthropic 공개(외부 확인 사실). 스킬은 SOP와 성격이 비슷해 제약사에 유리한 영역(보고자 의견)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확인한 사실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실습에서 확인한 결과물과 소요 시간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429000"/>
                <a:gridCol w="3429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소요 시간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수준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엑셀(9개 매장) 데이터 탐색 분석 → 시사점 5개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시사점 → 경영 보고형 웹 슬라이드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실습, 시간은 강사 언급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데이터로 대화형 대시보드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7~8분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실습, 시간은 강사 언급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 사이트 채용공고 수집·표 정리·요약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12분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시연(시간은 강사 발언)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/goal 활용 백과사전 웹 문서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10분 제한(한 참석자 10분 20초)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실습, 시안 수준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2F2F3"/>
          </a:solidFill>
          <a:ln w="12700">
            <a:solidFill>
              <a:srgbClr val="E2F2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27608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공통점: 원자료를 직접 열지 않고 목표·형식·검증 기준만 지시해 결과물을 받음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전제: 교육용 데이터·시안 수준. 수치 결과는 원본 대조가 반드시 필요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99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업무 기준선 대비 측정치 아님. '직원이라면 1주일' 비교는 강사 추정이라 근거로 쓰지 않음. 채용공고 수집은 사이트 약관 확인 필요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핵심 ⑥ 사람과 조직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성패는 사람·조직 설계에 있다(강사 주장)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리더 선발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전문성·결과 책임감 높은 시니어 우선. AI 활용은 1~6개월 교육으로 보완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12920" y="1691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7240" y="1920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사람의 몫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87240" y="2468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7단계 중 ① 목표 설정과 ⑦ 최종 판단. 나머지는 AI 우위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7200" y="1691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1520" y="1920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 대 5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51520" y="2468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95%를 만들어도 마지막 5%를 사람이 다듬지 않으면 품질 저하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06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조직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54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1명, 에이전트는 0.1 단위로 배치. HR이 함께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12920" y="3977640"/>
            <a:ext cx="3535680" cy="20574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87240" y="4206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 시간 배분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87240" y="4754880"/>
            <a:ext cx="307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선택 10, 사내 지식 정리 20, 하이브리드 조직 70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26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강사 견해이며 실증 근거는 제시되지 않음. 회사가 검토할 의제로 소개함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핵심 ⑦ 보안·규제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제약사는 통제 규칙을 먼저 갖춰야 합니다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429000"/>
                <a:gridCol w="3429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권고(강사)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제약사 추가 원칙(보고자)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업무는 기업 계정만, 개인·회사 계정 분리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 공통 가이드로 명문화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학습·공유 설정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활용 확인, 외부 공유 관리자 통제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AI 이용 시 개인정보 국외 이전·위탁 검토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대화 기록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소송에서 공개될 수 있음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보관·삭제 기준, 소송·조사 시 보존 우선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사용량 과금, 사용 한도를 건 기업 사례 소개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사용자별 한도와 점검 체계(보고자 의견)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데이터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(교육 범위 밖)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이상사례·환자 식별·미공개 임상·영업비밀 입력 금지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연결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IT가 접근 권한 관리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GxP 데이터는 CSV·QA 승인 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2F2F3"/>
          </a:solidFill>
          <a:ln w="12700">
            <a:solidFill>
              <a:srgbClr val="E2F2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27608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동조 경향(강사): AI는 질문자가 원하는 답을 하는 경향. 중대 판단엔 반대 검토용으로 활용(보고자 의견)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확인: 회사 계정의 외부 서비스 연결은 IT 관리자 승인이 있어야 열림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99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GxP: 의약품 품질 규정. CSV: 전산 시스템 검증. 제약 규제·법률 판단은 교육 범위 밖이며 보고자 검토 의견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제안: 단계별 실행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데이터부터 3개월 단계 적용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후 1개월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15727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계정·임시 규칙 승인(파일럿 착수 전제), 보안 가이드 초안, 과제·기준선·견적 확정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07208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81528" y="19659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81528" y="237744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 규칙 승인 후 ~3개월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81528" y="3291840"/>
            <a:ext cx="15727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임상 동향 브리핑(임상의학본부, 본부 내 배포·영업 전달 금지), 채용 시장 동향(경영지원본부)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65776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0096" y="19659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0096" y="237744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원칙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40096" y="3291840"/>
            <a:ext cx="15727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 품목 이상사례 인지 시 약물감시 SOP 기한 내 전달. 공식 문헌 검색은 대체 안 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24344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98664" y="19659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598664" y="237744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 시점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98664" y="3291840"/>
            <a:ext cx="15727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 대비 시간·품질·오류와 비용 실적, 스킬 라이브러리 운영안 보고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82912" y="1691640"/>
            <a:ext cx="2029968" cy="4069080"/>
          </a:xfrm>
          <a:prstGeom prst="roundRect">
            <a:avLst>
              <a:gd name="adj" fmla="val 540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57232" y="19659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57232" y="237744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이후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857232" y="3291840"/>
            <a:ext cx="15727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데이터(임상 운영 등)는 GxP·CSV·개인정보 검토 후 추진 여부 결정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70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정확성은 원출처 대조와 담당자 최종 확인으로 보증. 채용 정보는 공식 API·공개 통계 등 이용 허용 출처 우선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결정해 주십시오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5680" cy="4343400"/>
          </a:xfrm>
          <a:prstGeom prst="roundRect">
            <a:avLst>
              <a:gd name="adj" fmla="val 31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78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공개 데이터 파일럿 착수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16352"/>
            <a:ext cx="307848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임상의학본부(임상 동향)·경영지원본부(채용 시장 동향) 2건. 비용은 견적 후 보고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12920" y="1691640"/>
            <a:ext cx="3535680" cy="4343400"/>
          </a:xfrm>
          <a:prstGeom prst="roundRect">
            <a:avLst>
              <a:gd name="adj" fmla="val 31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7240" y="1920240"/>
            <a:ext cx="3078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AI 사용·보안 가이드 주관 지정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87240" y="2816352"/>
            <a:ext cx="307848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후보안: 지주 경영지원본부·정보보호 책임자 공동 주관, GxP 조항은 QA 승인. 관계사 협의 후 확정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7200" y="1691640"/>
            <a:ext cx="3535680" cy="4343400"/>
          </a:xfrm>
          <a:prstGeom prst="roundRect">
            <a:avLst>
              <a:gd name="adj" fmla="val 31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1520" y="192024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임원 확대 교육 검토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51520" y="2468880"/>
            <a:ext cx="3078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본부장급 우선 대상. 형식과 시기는 검토 후 보고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126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2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비용은 기업 계정 확정 견적을 받은 뒤 별도로 보고드립니다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7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eil AX">
  <a:themeElements>
    <a:clrScheme name="Jeil AX">
      <a:dk1>
        <a:srgbClr val="14202E"/>
      </a:dk1>
      <a:lt1>
        <a:srgbClr val="FFFFFF"/>
      </a:lt1>
      <a:dk2>
        <a:srgbClr val="1F3A5F"/>
      </a:dk2>
      <a:lt2>
        <a:srgbClr val="F2F5F8"/>
      </a:lt2>
      <a:accent1>
        <a:srgbClr val="0E7C86"/>
      </a:accent1>
      <a:accent2>
        <a:srgbClr val="1F3A5F"/>
      </a:accent2>
      <a:accent3>
        <a:srgbClr val="A55A12"/>
      </a:accent3>
      <a:accent4>
        <a:srgbClr val="7A5AF5"/>
      </a:accent4>
      <a:accent5>
        <a:srgbClr val="2F7FD0"/>
      </a:accent5>
      <a:accent6>
        <a:srgbClr val="C2405A"/>
      </a:accent6>
      <a:hlink>
        <a:srgbClr val="0E7C86"/>
      </a:hlink>
      <a:folHlink>
        <a:srgbClr val="566273"/>
      </a:folHlink>
    </a:clrScheme>
    <a:fontScheme name="Jeil AX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에이전트 경영 교육 결과 보고 (IGM, 2026.10.2·10.8)</dc:title>
  <dc:subject>PptxGenJS Presentation</dc:subject>
  <dc:creator>제일약품 임상의학본부</dc:creator>
  <cp:lastModifiedBy>제일약품 임상의학본부</cp:lastModifiedBy>
  <cp:revision>1</cp:revision>
  <dcterms:created xsi:type="dcterms:W3CDTF">2026-10-13T05:11:17Z</dcterms:created>
  <dcterms:modified xsi:type="dcterms:W3CDTF">2026-10-13T05:11:17Z</dcterms:modified>
</cp:coreProperties>
</file>